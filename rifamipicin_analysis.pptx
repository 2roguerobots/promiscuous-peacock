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aveSubsetFonts="1" autoCompressPictures="0">
  <p:sldMasterIdLst>
    <p:sldMasterId id="2147483648" r:id="rId1"/>
  </p:sldMasterIdLst>
  <p:notesMasterIdLst>
    <p:notesMasterId r:id="rId13"/>
  </p:notesMasterIdLst>
  <p:sldIdLst>
    <p:sldId id="263" r:id="rId2"/>
    <p:sldId id="269" r:id="rId3"/>
    <p:sldId id="272" r:id="rId4"/>
    <p:sldId id="271" r:id="rId5"/>
    <p:sldId id="270" r:id="rId6"/>
    <p:sldId id="273" r:id="rId7"/>
    <p:sldId id="274" r:id="rId8"/>
    <p:sldId id="275" r:id="rId9"/>
    <p:sldId id="277" r:id="rId10"/>
    <p:sldId id="27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3" orient="horz" pos="4156" userDrawn="1">
          <p15:clr>
            <a:srgbClr val="A4A3A4"/>
          </p15:clr>
        </p15:guide>
        <p15:guide id="5" pos="415" userDrawn="1">
          <p15:clr>
            <a:srgbClr val="A4A3A4"/>
          </p15:clr>
        </p15:guide>
        <p15:guide id="6" pos="7265" userDrawn="1">
          <p15:clr>
            <a:srgbClr val="A4A3A4"/>
          </p15:clr>
        </p15:guide>
        <p15:guide id="7" orient="horz" pos="164"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25D"/>
    <a:srgbClr val="2D185C"/>
    <a:srgbClr val="FF0058"/>
    <a:srgbClr val="FCFCFC"/>
    <a:srgbClr val="DD325D"/>
    <a:srgbClr val="2C2C2C"/>
    <a:srgbClr val="9C9C9C"/>
    <a:srgbClr val="ACACAC"/>
    <a:srgbClr val="BCBCB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49"/>
    <p:restoredTop sz="96000"/>
  </p:normalViewPr>
  <p:slideViewPr>
    <p:cSldViewPr snapToObjects="1" showGuides="1">
      <p:cViewPr varScale="1">
        <p:scale>
          <a:sx n="117" d="100"/>
          <a:sy n="117" d="100"/>
        </p:scale>
        <p:origin x="384" y="184"/>
      </p:cViewPr>
      <p:guideLst>
        <p:guide orient="horz" pos="595"/>
        <p:guide orient="horz" pos="4156"/>
        <p:guide pos="415"/>
        <p:guide pos="7265"/>
        <p:guide orient="horz" pos="16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Objects="1" showGuides="1">
      <p:cViewPr varScale="1">
        <p:scale>
          <a:sx n="88" d="100"/>
          <a:sy n="88" d="100"/>
        </p:scale>
        <p:origin x="3872" y="20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C6280-D61D-F64C-BB2C-695115E724E7}" type="datetimeFigureOut">
              <a:rPr lang="de-DE" smtClean="0"/>
              <a:t>03.02.26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D6234-9DA1-9A48-A791-63A7F1192706}" type="slidenum">
              <a:rPr lang="de-DE" smtClean="0"/>
              <a:t>‹Nr.›</a:t>
            </a:fld>
            <a:endParaRPr lang="de-DE"/>
          </a:p>
        </p:txBody>
      </p:sp>
    </p:spTree>
    <p:extLst>
      <p:ext uri="{BB962C8B-B14F-4D97-AF65-F5344CB8AC3E}">
        <p14:creationId xmlns:p14="http://schemas.microsoft.com/office/powerpoint/2010/main" val="1288942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2D185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63485" y="1844782"/>
            <a:ext cx="8723086" cy="2432980"/>
          </a:xfrm>
        </p:spPr>
        <p:txBody>
          <a:bodyPr anchor="b"/>
          <a:lstStyle>
            <a:lvl1pPr>
              <a:defRPr sz="6000" b="1" i="0">
                <a:solidFill>
                  <a:srgbClr val="FF325D"/>
                </a:solidFill>
                <a:latin typeface="Reddit Sans" pitchFamily="2" charset="77"/>
                <a:ea typeface="Reddit Sans" pitchFamily="2" charset="77"/>
                <a:cs typeface="Reddit Sans" pitchFamily="2" charset="77"/>
              </a:defRPr>
            </a:lvl1pPr>
          </a:lstStyle>
          <a:p>
            <a:r>
              <a:rPr lang="en-US" dirty="0"/>
              <a:t>Click to edit Master title style</a:t>
            </a:r>
            <a:endParaRPr lang="de-DE" dirty="0"/>
          </a:p>
        </p:txBody>
      </p:sp>
      <p:sp>
        <p:nvSpPr>
          <p:cNvPr id="3" name="Text Placeholder 2"/>
          <p:cNvSpPr>
            <a:spLocks noGrp="1"/>
          </p:cNvSpPr>
          <p:nvPr>
            <p:ph type="body" idx="1" hasCustomPrompt="1"/>
          </p:nvPr>
        </p:nvSpPr>
        <p:spPr>
          <a:xfrm>
            <a:off x="1763483" y="4290988"/>
            <a:ext cx="8723086" cy="867534"/>
          </a:xfrm>
        </p:spPr>
        <p:txBody>
          <a:bodyPr>
            <a:normAutofit/>
          </a:bodyPr>
          <a:lstStyle>
            <a:lvl1pPr marL="0" indent="0">
              <a:buNone/>
              <a:defRPr sz="1800">
                <a:solidFill>
                  <a:srgbClr val="FCFCFC"/>
                </a:solidFill>
                <a:latin typeface="Reddit Sans" pitchFamily="2" charset="77"/>
                <a:ea typeface="Reddit Sans" pitchFamily="2" charset="77"/>
                <a:cs typeface="Reddit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err="1"/>
              <a:t>Untertitel</a:t>
            </a:r>
            <a:endParaRPr lang="en-US" dirty="0"/>
          </a:p>
        </p:txBody>
      </p:sp>
      <p:sp>
        <p:nvSpPr>
          <p:cNvPr id="14" name="Text Placeholder 2"/>
          <p:cNvSpPr>
            <a:spLocks noGrp="1"/>
          </p:cNvSpPr>
          <p:nvPr>
            <p:ph type="body" idx="13" hasCustomPrompt="1"/>
          </p:nvPr>
        </p:nvSpPr>
        <p:spPr>
          <a:xfrm>
            <a:off x="1763483" y="5158522"/>
            <a:ext cx="8723086" cy="522277"/>
          </a:xfrm>
        </p:spPr>
        <p:txBody>
          <a:bodyPr>
            <a:normAutofit/>
          </a:bodyPr>
          <a:lstStyle>
            <a:lvl1pPr marL="0" indent="0">
              <a:buNone/>
              <a:defRPr sz="1800">
                <a:solidFill>
                  <a:srgbClr val="FCFCFC"/>
                </a:solidFill>
                <a:latin typeface="Reddit Sans" pitchFamily="2" charset="77"/>
                <a:ea typeface="Reddit Sans" pitchFamily="2" charset="77"/>
                <a:cs typeface="Reddit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Personen</a:t>
            </a:r>
          </a:p>
          <a:p>
            <a:pPr lvl="0"/>
            <a:r>
              <a:rPr lang="de-DE" dirty="0" err="1"/>
              <a:t>Sunday</a:t>
            </a:r>
            <a:r>
              <a:rPr lang="de-DE" dirty="0"/>
              <a:t>, 11. </a:t>
            </a:r>
            <a:r>
              <a:rPr lang="de-DE" dirty="0" err="1"/>
              <a:t>December</a:t>
            </a:r>
            <a:r>
              <a:rPr lang="de-DE" dirty="0"/>
              <a:t> 2022</a:t>
            </a:r>
            <a:endParaRPr lang="en-US" dirty="0"/>
          </a:p>
        </p:txBody>
      </p:sp>
      <p:pic>
        <p:nvPicPr>
          <p:cNvPr id="13" name="Graphic 12">
            <a:extLst>
              <a:ext uri="{FF2B5EF4-FFF2-40B4-BE49-F238E27FC236}">
                <a16:creationId xmlns:a16="http://schemas.microsoft.com/office/drawing/2014/main" id="{D9192CB6-9F8A-5340-A58F-238C0472FA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42848" y="5876925"/>
            <a:ext cx="876300" cy="838200"/>
          </a:xfrm>
          <a:prstGeom prst="rect">
            <a:avLst/>
          </a:prstGeom>
        </p:spPr>
      </p:pic>
    </p:spTree>
    <p:extLst>
      <p:ext uri="{BB962C8B-B14F-4D97-AF65-F5344CB8AC3E}">
        <p14:creationId xmlns:p14="http://schemas.microsoft.com/office/powerpoint/2010/main" val="1296007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Title Slide">
    <p:bg>
      <p:bgPr>
        <a:solidFill>
          <a:srgbClr val="2D185C"/>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72051" y="184212"/>
            <a:ext cx="10961137" cy="373928"/>
          </a:xfrm>
        </p:spPr>
        <p:txBody>
          <a:bodyPr lIns="97200" anchor="ctr">
            <a:normAutofit/>
          </a:bodyPr>
          <a:lstStyle>
            <a:lvl1pPr algn="l">
              <a:defRPr sz="1400" spc="300">
                <a:solidFill>
                  <a:srgbClr val="FCFCFC"/>
                </a:solidFill>
                <a:latin typeface="Reddit Sans" pitchFamily="2" charset="77"/>
                <a:ea typeface="Reddit Sans" pitchFamily="2" charset="77"/>
                <a:cs typeface="Reddit Sans" pitchFamily="2" charset="77"/>
              </a:defRPr>
            </a:lvl1pPr>
          </a:lstStyle>
          <a:p>
            <a:r>
              <a:rPr lang="en-US" dirty="0"/>
              <a:t>CLICK TO EDIT MASTER TITLE STYLE</a:t>
            </a:r>
            <a:endParaRPr lang="de-DE" dirty="0"/>
          </a:p>
        </p:txBody>
      </p:sp>
      <p:sp>
        <p:nvSpPr>
          <p:cNvPr id="3" name="Subtitle 2"/>
          <p:cNvSpPr>
            <a:spLocks noGrp="1"/>
          </p:cNvSpPr>
          <p:nvPr>
            <p:ph type="subTitle" idx="1"/>
          </p:nvPr>
        </p:nvSpPr>
        <p:spPr>
          <a:xfrm>
            <a:off x="572051" y="558140"/>
            <a:ext cx="10961137" cy="433450"/>
          </a:xfrm>
        </p:spPr>
        <p:txBody>
          <a:bodyPr anchor="ctr" anchorCtr="0">
            <a:noAutofit/>
          </a:bodyPr>
          <a:lstStyle>
            <a:lvl1pPr marL="0" indent="0" algn="l">
              <a:buNone/>
              <a:defRPr sz="2400" b="0" i="0">
                <a:solidFill>
                  <a:srgbClr val="FF325D"/>
                </a:solidFill>
                <a:latin typeface="Reddit Sans" pitchFamily="2" charset="77"/>
                <a:ea typeface="Reddit Sans" pitchFamily="2" charset="77"/>
                <a:cs typeface="Reddi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de-DE" dirty="0"/>
          </a:p>
        </p:txBody>
      </p:sp>
      <p:sp>
        <p:nvSpPr>
          <p:cNvPr id="8" name="Date Placeholder 3">
            <a:extLst>
              <a:ext uri="{FF2B5EF4-FFF2-40B4-BE49-F238E27FC236}">
                <a16:creationId xmlns:a16="http://schemas.microsoft.com/office/drawing/2014/main" id="{A2CE1B30-989C-B641-9E63-DB2C661661AE}"/>
              </a:ext>
            </a:extLst>
          </p:cNvPr>
          <p:cNvSpPr>
            <a:spLocks noGrp="1"/>
          </p:cNvSpPr>
          <p:nvPr>
            <p:ph type="dt" sz="half" idx="10"/>
          </p:nvPr>
        </p:nvSpPr>
        <p:spPr>
          <a:xfrm>
            <a:off x="1141989" y="6356349"/>
            <a:ext cx="1382485" cy="365125"/>
          </a:xfrm>
        </p:spPr>
        <p:txBody>
          <a:bodyPr/>
          <a:lstStyle>
            <a:lvl1pPr>
              <a:defRPr>
                <a:solidFill>
                  <a:srgbClr val="FCFCFC"/>
                </a:solidFill>
                <a:latin typeface="Reddit Sans" pitchFamily="2" charset="77"/>
                <a:ea typeface="Reddit Sans" pitchFamily="2" charset="77"/>
              </a:defRPr>
            </a:lvl1pPr>
          </a:lstStyle>
          <a:p>
            <a:fld id="{CA409D01-E3E8-AD40-87EE-AB0D1D4B99A2}" type="datetime4">
              <a:rPr lang="de-DE" smtClean="0"/>
              <a:t>3. Februar 2026</a:t>
            </a:fld>
            <a:endParaRPr lang="de-DE"/>
          </a:p>
        </p:txBody>
      </p:sp>
      <p:sp>
        <p:nvSpPr>
          <p:cNvPr id="10" name="Footer Placeholder 4">
            <a:extLst>
              <a:ext uri="{FF2B5EF4-FFF2-40B4-BE49-F238E27FC236}">
                <a16:creationId xmlns:a16="http://schemas.microsoft.com/office/drawing/2014/main" id="{94701590-7FAF-7741-B68A-B0D072C69042}"/>
              </a:ext>
            </a:extLst>
          </p:cNvPr>
          <p:cNvSpPr>
            <a:spLocks noGrp="1"/>
          </p:cNvSpPr>
          <p:nvPr>
            <p:ph type="ftr" sz="quarter" idx="11"/>
          </p:nvPr>
        </p:nvSpPr>
        <p:spPr>
          <a:xfrm>
            <a:off x="2582862" y="6359399"/>
            <a:ext cx="7508876" cy="365125"/>
          </a:xfrm>
        </p:spPr>
        <p:txBody>
          <a:bodyPr/>
          <a:lstStyle>
            <a:lvl1pPr>
              <a:defRPr>
                <a:solidFill>
                  <a:srgbClr val="FCFCFC"/>
                </a:solidFill>
                <a:latin typeface="Reddit Sans" pitchFamily="2" charset="77"/>
                <a:ea typeface="Reddit Sans" pitchFamily="2" charset="77"/>
              </a:defRPr>
            </a:lvl1pPr>
          </a:lstStyle>
          <a:p>
            <a:r>
              <a:rPr lang="de-DE"/>
              <a:t>Krankenhäuser &amp; Rehakliniken als Startpunkte der Patient:innenreise mit APONTIS Iltria</a:t>
            </a:r>
          </a:p>
        </p:txBody>
      </p:sp>
      <p:sp>
        <p:nvSpPr>
          <p:cNvPr id="11" name="Slide Number Placeholder 5">
            <a:extLst>
              <a:ext uri="{FF2B5EF4-FFF2-40B4-BE49-F238E27FC236}">
                <a16:creationId xmlns:a16="http://schemas.microsoft.com/office/drawing/2014/main" id="{B57D8319-53EF-EA4C-BE3C-AAF53EE4B286}"/>
              </a:ext>
            </a:extLst>
          </p:cNvPr>
          <p:cNvSpPr>
            <a:spLocks noGrp="1"/>
          </p:cNvSpPr>
          <p:nvPr>
            <p:ph type="sldNum" sz="quarter" idx="12"/>
          </p:nvPr>
        </p:nvSpPr>
        <p:spPr>
          <a:xfrm>
            <a:off x="577910" y="6356350"/>
            <a:ext cx="505691" cy="365125"/>
          </a:xfrm>
        </p:spPr>
        <p:txBody>
          <a:bodyPr/>
          <a:lstStyle>
            <a:lvl1pPr>
              <a:defRPr>
                <a:solidFill>
                  <a:srgbClr val="FCFCFC"/>
                </a:solidFill>
                <a:latin typeface="Reddit Sans" pitchFamily="2" charset="77"/>
                <a:ea typeface="Reddit Sans" pitchFamily="2" charset="77"/>
              </a:defRPr>
            </a:lvl1pPr>
          </a:lstStyle>
          <a:p>
            <a:fld id="{228B9B32-4C81-AF47-9361-0A571CCDDFED}" type="slidenum">
              <a:rPr lang="de-DE" smtClean="0"/>
              <a:pPr/>
              <a:t>‹Nr.›</a:t>
            </a:fld>
            <a:endParaRPr lang="de-DE"/>
          </a:p>
        </p:txBody>
      </p:sp>
    </p:spTree>
    <p:extLst>
      <p:ext uri="{BB962C8B-B14F-4D97-AF65-F5344CB8AC3E}">
        <p14:creationId xmlns:p14="http://schemas.microsoft.com/office/powerpoint/2010/main" val="4004029264"/>
      </p:ext>
    </p:extLst>
  </p:cSld>
  <p:clrMapOvr>
    <a:masterClrMapping/>
  </p:clrMapOvr>
  <p:extLst>
    <p:ext uri="{DCECCB84-F9BA-43D5-87BE-67443E8EF086}">
      <p15:sldGuideLst xmlns:p15="http://schemas.microsoft.com/office/powerpoint/2012/main">
        <p15:guide id="1" pos="4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rgbClr val="2D185C"/>
        </a:solidFill>
        <a:effectLst/>
      </p:bgPr>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609260D0-1DDB-3243-BE41-C831D72992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79102" y="1412950"/>
            <a:ext cx="7833797" cy="4032101"/>
          </a:xfrm>
          <a:prstGeom prst="rect">
            <a:avLst/>
          </a:prstGeom>
        </p:spPr>
      </p:pic>
      <p:sp>
        <p:nvSpPr>
          <p:cNvPr id="17" name="Rectangle 16">
            <a:extLst>
              <a:ext uri="{FF2B5EF4-FFF2-40B4-BE49-F238E27FC236}">
                <a16:creationId xmlns:a16="http://schemas.microsoft.com/office/drawing/2014/main" id="{BFC111F4-17E3-A44B-9CE3-8FADECEFDEAD}"/>
              </a:ext>
            </a:extLst>
          </p:cNvPr>
          <p:cNvSpPr/>
          <p:nvPr userDrawn="1"/>
        </p:nvSpPr>
        <p:spPr>
          <a:xfrm>
            <a:off x="10416480" y="5733257"/>
            <a:ext cx="1368152" cy="1008112"/>
          </a:xfrm>
          <a:prstGeom prst="rect">
            <a:avLst/>
          </a:prstGeom>
          <a:solidFill>
            <a:srgbClr val="2D18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14978704"/>
      </p:ext>
    </p:extLst>
  </p:cSld>
  <p:clrMapOvr>
    <a:masterClrMapping/>
  </p:clrMapOvr>
  <p:extLst>
    <p:ext uri="{DCECCB84-F9BA-43D5-87BE-67443E8EF086}">
      <p15:sldGuideLst xmlns:p15="http://schemas.microsoft.com/office/powerpoint/2012/main">
        <p15:guide id="1" pos="41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72051" y="184212"/>
            <a:ext cx="10961137" cy="373928"/>
          </a:xfrm>
        </p:spPr>
        <p:txBody>
          <a:bodyPr lIns="97200" anchor="ctr">
            <a:normAutofit/>
          </a:bodyPr>
          <a:lstStyle>
            <a:lvl1pPr algn="l">
              <a:defRPr sz="1400" spc="300">
                <a:solidFill>
                  <a:srgbClr val="FF325D"/>
                </a:solidFill>
                <a:latin typeface="Reddit Sans" pitchFamily="2" charset="77"/>
                <a:ea typeface="Reddit Sans" pitchFamily="2" charset="77"/>
                <a:cs typeface="Reddit Sans" pitchFamily="2" charset="77"/>
              </a:defRPr>
            </a:lvl1pPr>
          </a:lstStyle>
          <a:p>
            <a:r>
              <a:rPr lang="en-US" dirty="0"/>
              <a:t>CLICK TO EDIT MASTER TITLE STYLE</a:t>
            </a:r>
            <a:endParaRPr lang="de-DE" dirty="0"/>
          </a:p>
        </p:txBody>
      </p:sp>
      <p:sp>
        <p:nvSpPr>
          <p:cNvPr id="3" name="Subtitle 2"/>
          <p:cNvSpPr>
            <a:spLocks noGrp="1"/>
          </p:cNvSpPr>
          <p:nvPr>
            <p:ph type="subTitle" idx="1"/>
          </p:nvPr>
        </p:nvSpPr>
        <p:spPr>
          <a:xfrm>
            <a:off x="572051" y="558140"/>
            <a:ext cx="10961137" cy="433450"/>
          </a:xfrm>
        </p:spPr>
        <p:txBody>
          <a:bodyPr anchor="ctr" anchorCtr="0"/>
          <a:lstStyle>
            <a:lvl1pPr marL="0" indent="0" algn="l">
              <a:buNone/>
              <a:defRPr sz="2400" b="0" i="0">
                <a:solidFill>
                  <a:srgbClr val="2D185C"/>
                </a:solidFill>
                <a:latin typeface="Reddit Sans" pitchFamily="2" charset="77"/>
                <a:ea typeface="Reddit Sans" pitchFamily="2" charset="77"/>
                <a:cs typeface="Reddi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de-DE" dirty="0"/>
          </a:p>
        </p:txBody>
      </p:sp>
      <p:sp>
        <p:nvSpPr>
          <p:cNvPr id="8" name="Date Placeholder 3">
            <a:extLst>
              <a:ext uri="{FF2B5EF4-FFF2-40B4-BE49-F238E27FC236}">
                <a16:creationId xmlns:a16="http://schemas.microsoft.com/office/drawing/2014/main" id="{E42418C1-648D-4F42-AFF6-C9BED9DF5004}"/>
              </a:ext>
            </a:extLst>
          </p:cNvPr>
          <p:cNvSpPr>
            <a:spLocks noGrp="1"/>
          </p:cNvSpPr>
          <p:nvPr>
            <p:ph type="dt" sz="half" idx="10"/>
          </p:nvPr>
        </p:nvSpPr>
        <p:spPr>
          <a:xfrm>
            <a:off x="1141989" y="6356349"/>
            <a:ext cx="1382485" cy="365125"/>
          </a:xfrm>
        </p:spPr>
        <p:txBody>
          <a:bodyPr/>
          <a:lstStyle>
            <a:lvl1pPr>
              <a:defRPr>
                <a:solidFill>
                  <a:srgbClr val="2C2C2C"/>
                </a:solidFill>
                <a:latin typeface="Reddit Sans" pitchFamily="2" charset="77"/>
                <a:ea typeface="Reddit Sans" pitchFamily="2" charset="77"/>
              </a:defRPr>
            </a:lvl1pPr>
          </a:lstStyle>
          <a:p>
            <a:fld id="{CA409D01-E3E8-AD40-87EE-AB0D1D4B99A2}" type="datetime4">
              <a:rPr lang="de-DE" smtClean="0"/>
              <a:pPr/>
              <a:t>3. Februar 2026</a:t>
            </a:fld>
            <a:endParaRPr lang="de-DE"/>
          </a:p>
        </p:txBody>
      </p:sp>
      <p:sp>
        <p:nvSpPr>
          <p:cNvPr id="9" name="Footer Placeholder 4">
            <a:extLst>
              <a:ext uri="{FF2B5EF4-FFF2-40B4-BE49-F238E27FC236}">
                <a16:creationId xmlns:a16="http://schemas.microsoft.com/office/drawing/2014/main" id="{DDBC0B8F-3B4F-D04C-8117-F4AEFD45B2CB}"/>
              </a:ext>
            </a:extLst>
          </p:cNvPr>
          <p:cNvSpPr>
            <a:spLocks noGrp="1"/>
          </p:cNvSpPr>
          <p:nvPr>
            <p:ph type="ftr" sz="quarter" idx="11"/>
          </p:nvPr>
        </p:nvSpPr>
        <p:spPr>
          <a:xfrm>
            <a:off x="2582862" y="6359399"/>
            <a:ext cx="7508876" cy="365125"/>
          </a:xfrm>
        </p:spPr>
        <p:txBody>
          <a:bodyPr/>
          <a:lstStyle>
            <a:lvl1pPr>
              <a:defRPr>
                <a:solidFill>
                  <a:srgbClr val="2C2C2C"/>
                </a:solidFill>
                <a:latin typeface="Reddit Sans" pitchFamily="2" charset="77"/>
                <a:ea typeface="Reddit Sans" pitchFamily="2" charset="77"/>
              </a:defRPr>
            </a:lvl1pPr>
          </a:lstStyle>
          <a:p>
            <a:r>
              <a:rPr lang="de-DE"/>
              <a:t>Krankenhäuser &amp; Rehakliniken als Startpunkte der Patient:innenreise mit APONTIS Iltria</a:t>
            </a:r>
          </a:p>
        </p:txBody>
      </p:sp>
      <p:sp>
        <p:nvSpPr>
          <p:cNvPr id="10" name="Slide Number Placeholder 5">
            <a:extLst>
              <a:ext uri="{FF2B5EF4-FFF2-40B4-BE49-F238E27FC236}">
                <a16:creationId xmlns:a16="http://schemas.microsoft.com/office/drawing/2014/main" id="{DEE1853A-5EBD-0745-9B99-A5A1B8960303}"/>
              </a:ext>
            </a:extLst>
          </p:cNvPr>
          <p:cNvSpPr>
            <a:spLocks noGrp="1"/>
          </p:cNvSpPr>
          <p:nvPr>
            <p:ph type="sldNum" sz="quarter" idx="12"/>
          </p:nvPr>
        </p:nvSpPr>
        <p:spPr>
          <a:xfrm>
            <a:off x="577910" y="6356350"/>
            <a:ext cx="505691" cy="365125"/>
          </a:xfrm>
        </p:spPr>
        <p:txBody>
          <a:bodyPr/>
          <a:lstStyle>
            <a:lvl1pPr>
              <a:defRPr>
                <a:solidFill>
                  <a:srgbClr val="2C2C2C"/>
                </a:solidFill>
                <a:latin typeface="Reddit Sans" pitchFamily="2" charset="77"/>
                <a:ea typeface="Reddit Sans" pitchFamily="2" charset="77"/>
              </a:defRPr>
            </a:lvl1pPr>
          </a:lstStyle>
          <a:p>
            <a:fld id="{228B9B32-4C81-AF47-9361-0A571CCDDFED}" type="slidenum">
              <a:rPr lang="de-DE" smtClean="0"/>
              <a:pPr/>
              <a:t>‹Nr.›</a:t>
            </a:fld>
            <a:endParaRPr lang="de-DE"/>
          </a:p>
        </p:txBody>
      </p:sp>
    </p:spTree>
    <p:extLst>
      <p:ext uri="{BB962C8B-B14F-4D97-AF65-F5344CB8AC3E}">
        <p14:creationId xmlns:p14="http://schemas.microsoft.com/office/powerpoint/2010/main" val="4255271176"/>
      </p:ext>
    </p:extLst>
  </p:cSld>
  <p:clrMapOvr>
    <a:masterClrMapping/>
  </p:clrMapOvr>
  <p:extLst>
    <p:ext uri="{DCECCB84-F9BA-43D5-87BE-67443E8EF086}">
      <p15:sldGuideLst xmlns:p15="http://schemas.microsoft.com/office/powerpoint/2012/main">
        <p15:guide id="1" pos="41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050" y="1365518"/>
            <a:ext cx="10961137" cy="4234348"/>
          </a:xfrm>
        </p:spPr>
        <p:txBody>
          <a:bodyPr>
            <a:normAutofit/>
          </a:bodyPr>
          <a:lstStyle>
            <a:lvl1pPr>
              <a:defRPr sz="2400">
                <a:latin typeface="Reddit Sans" pitchFamily="2" charset="77"/>
                <a:ea typeface="Reddit Sans" pitchFamily="2" charset="77"/>
                <a:cs typeface="Reddit Sans" pitchFamily="2" charset="77"/>
              </a:defRPr>
            </a:lvl1pPr>
            <a:lvl2pPr>
              <a:defRPr sz="2000">
                <a:latin typeface="Reddit Sans" pitchFamily="2" charset="77"/>
                <a:ea typeface="Reddit Sans" pitchFamily="2" charset="77"/>
                <a:cs typeface="Reddit Sans" pitchFamily="2" charset="77"/>
              </a:defRPr>
            </a:lvl2pPr>
            <a:lvl3pPr>
              <a:defRPr sz="1800">
                <a:latin typeface="Reddit Sans" pitchFamily="2" charset="77"/>
                <a:ea typeface="Reddit Sans" pitchFamily="2" charset="77"/>
                <a:cs typeface="Reddit Sans" pitchFamily="2" charset="77"/>
              </a:defRPr>
            </a:lvl3pPr>
            <a:lvl4pPr>
              <a:defRPr sz="1600">
                <a:latin typeface="Reddit Sans" pitchFamily="2" charset="77"/>
                <a:ea typeface="Reddit Sans" pitchFamily="2" charset="77"/>
                <a:cs typeface="Reddit Sans" pitchFamily="2" charset="77"/>
              </a:defRPr>
            </a:lvl4pPr>
            <a:lvl5pPr>
              <a:defRPr sz="1600">
                <a:latin typeface="Reddit Sans" pitchFamily="2" charset="77"/>
                <a:ea typeface="Reddit Sans" pitchFamily="2" charset="77"/>
                <a:cs typeface="Reddit Sa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1"/>
          <p:cNvSpPr>
            <a:spLocks noGrp="1"/>
          </p:cNvSpPr>
          <p:nvPr>
            <p:ph type="ctrTitle" hasCustomPrompt="1"/>
          </p:nvPr>
        </p:nvSpPr>
        <p:spPr>
          <a:xfrm>
            <a:off x="572051" y="184212"/>
            <a:ext cx="10961137" cy="373928"/>
          </a:xfrm>
        </p:spPr>
        <p:txBody>
          <a:bodyPr lIns="97200" anchor="ctr">
            <a:normAutofit/>
          </a:bodyPr>
          <a:lstStyle>
            <a:lvl1pPr algn="l">
              <a:defRPr sz="1400" spc="300">
                <a:solidFill>
                  <a:srgbClr val="FF325D"/>
                </a:solidFill>
                <a:latin typeface="Reddit Sans" pitchFamily="2" charset="77"/>
                <a:ea typeface="Reddit Sans" pitchFamily="2" charset="77"/>
                <a:cs typeface="Reddit Sans" pitchFamily="2" charset="77"/>
              </a:defRPr>
            </a:lvl1pPr>
          </a:lstStyle>
          <a:p>
            <a:r>
              <a:rPr lang="en-US" dirty="0"/>
              <a:t>CLICK TO EDIT MASTER TITLE STYLE</a:t>
            </a:r>
            <a:endParaRPr lang="de-DE" dirty="0"/>
          </a:p>
        </p:txBody>
      </p:sp>
      <p:sp>
        <p:nvSpPr>
          <p:cNvPr id="8" name="Subtitle 2"/>
          <p:cNvSpPr>
            <a:spLocks noGrp="1"/>
          </p:cNvSpPr>
          <p:nvPr>
            <p:ph type="subTitle" idx="13"/>
          </p:nvPr>
        </p:nvSpPr>
        <p:spPr>
          <a:xfrm>
            <a:off x="572051" y="558140"/>
            <a:ext cx="10961137" cy="433450"/>
          </a:xfrm>
        </p:spPr>
        <p:txBody>
          <a:bodyPr anchor="ctr" anchorCtr="0"/>
          <a:lstStyle>
            <a:lvl1pPr marL="0" indent="0" algn="l">
              <a:buNone/>
              <a:defRPr sz="2400" b="0" i="0">
                <a:solidFill>
                  <a:srgbClr val="2D185C"/>
                </a:solidFill>
                <a:latin typeface="Reddit Sans" pitchFamily="2" charset="77"/>
                <a:ea typeface="Reddit Sans" pitchFamily="2" charset="77"/>
                <a:cs typeface="Reddi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de-DE" dirty="0"/>
          </a:p>
        </p:txBody>
      </p:sp>
      <p:sp>
        <p:nvSpPr>
          <p:cNvPr id="12" name="Date Placeholder 3">
            <a:extLst>
              <a:ext uri="{FF2B5EF4-FFF2-40B4-BE49-F238E27FC236}">
                <a16:creationId xmlns:a16="http://schemas.microsoft.com/office/drawing/2014/main" id="{D3558C3B-A40A-DF40-96D1-83F966980483}"/>
              </a:ext>
            </a:extLst>
          </p:cNvPr>
          <p:cNvSpPr>
            <a:spLocks noGrp="1"/>
          </p:cNvSpPr>
          <p:nvPr>
            <p:ph type="dt" sz="half" idx="10"/>
          </p:nvPr>
        </p:nvSpPr>
        <p:spPr>
          <a:xfrm>
            <a:off x="1141989" y="6356349"/>
            <a:ext cx="1382485" cy="365125"/>
          </a:xfrm>
        </p:spPr>
        <p:txBody>
          <a:bodyPr/>
          <a:lstStyle>
            <a:lvl1pPr>
              <a:defRPr>
                <a:solidFill>
                  <a:srgbClr val="2C2C2C"/>
                </a:solidFill>
                <a:latin typeface="Reddit Sans" pitchFamily="2" charset="77"/>
                <a:ea typeface="Reddit Sans" pitchFamily="2" charset="77"/>
              </a:defRPr>
            </a:lvl1pPr>
          </a:lstStyle>
          <a:p>
            <a:fld id="{CA409D01-E3E8-AD40-87EE-AB0D1D4B99A2}" type="datetime4">
              <a:rPr lang="de-DE" smtClean="0"/>
              <a:pPr/>
              <a:t>3. Februar 2026</a:t>
            </a:fld>
            <a:endParaRPr lang="de-DE"/>
          </a:p>
        </p:txBody>
      </p:sp>
      <p:sp>
        <p:nvSpPr>
          <p:cNvPr id="13" name="Footer Placeholder 4">
            <a:extLst>
              <a:ext uri="{FF2B5EF4-FFF2-40B4-BE49-F238E27FC236}">
                <a16:creationId xmlns:a16="http://schemas.microsoft.com/office/drawing/2014/main" id="{B565A399-8752-CD4F-A8CC-32D37B58FDF8}"/>
              </a:ext>
            </a:extLst>
          </p:cNvPr>
          <p:cNvSpPr>
            <a:spLocks noGrp="1"/>
          </p:cNvSpPr>
          <p:nvPr>
            <p:ph type="ftr" sz="quarter" idx="11"/>
          </p:nvPr>
        </p:nvSpPr>
        <p:spPr>
          <a:xfrm>
            <a:off x="2582862" y="6359399"/>
            <a:ext cx="7508876" cy="365125"/>
          </a:xfrm>
        </p:spPr>
        <p:txBody>
          <a:bodyPr/>
          <a:lstStyle>
            <a:lvl1pPr>
              <a:defRPr>
                <a:solidFill>
                  <a:srgbClr val="2C2C2C"/>
                </a:solidFill>
                <a:latin typeface="Reddit Sans" pitchFamily="2" charset="77"/>
                <a:ea typeface="Reddit Sans" pitchFamily="2" charset="77"/>
              </a:defRPr>
            </a:lvl1pPr>
          </a:lstStyle>
          <a:p>
            <a:r>
              <a:rPr lang="de-DE"/>
              <a:t>Krankenhäuser &amp; Rehakliniken als Startpunkte der Patient:innenreise mit APONTIS Iltria</a:t>
            </a:r>
          </a:p>
        </p:txBody>
      </p:sp>
      <p:sp>
        <p:nvSpPr>
          <p:cNvPr id="14" name="Slide Number Placeholder 5">
            <a:extLst>
              <a:ext uri="{FF2B5EF4-FFF2-40B4-BE49-F238E27FC236}">
                <a16:creationId xmlns:a16="http://schemas.microsoft.com/office/drawing/2014/main" id="{2156BBE9-904B-A546-B9B9-C41C8D0CCE1E}"/>
              </a:ext>
            </a:extLst>
          </p:cNvPr>
          <p:cNvSpPr>
            <a:spLocks noGrp="1"/>
          </p:cNvSpPr>
          <p:nvPr>
            <p:ph type="sldNum" sz="quarter" idx="12"/>
          </p:nvPr>
        </p:nvSpPr>
        <p:spPr>
          <a:xfrm>
            <a:off x="577910" y="6356350"/>
            <a:ext cx="505691" cy="365125"/>
          </a:xfrm>
        </p:spPr>
        <p:txBody>
          <a:bodyPr/>
          <a:lstStyle>
            <a:lvl1pPr>
              <a:defRPr>
                <a:solidFill>
                  <a:srgbClr val="2C2C2C"/>
                </a:solidFill>
                <a:latin typeface="Reddit Sans" pitchFamily="2" charset="77"/>
                <a:ea typeface="Reddit Sans" pitchFamily="2" charset="77"/>
              </a:defRPr>
            </a:lvl1pPr>
          </a:lstStyle>
          <a:p>
            <a:fld id="{228B9B32-4C81-AF47-9361-0A571CCDDFED}" type="slidenum">
              <a:rPr lang="de-DE" smtClean="0"/>
              <a:pPr/>
              <a:t>‹Nr.›</a:t>
            </a:fld>
            <a:endParaRPr lang="de-DE"/>
          </a:p>
        </p:txBody>
      </p:sp>
    </p:spTree>
    <p:extLst>
      <p:ext uri="{BB962C8B-B14F-4D97-AF65-F5344CB8AC3E}">
        <p14:creationId xmlns:p14="http://schemas.microsoft.com/office/powerpoint/2010/main" val="513341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2"/>
          </p:nvPr>
        </p:nvSpPr>
        <p:spPr>
          <a:xfrm>
            <a:off x="1141989" y="6356349"/>
            <a:ext cx="1382485" cy="365125"/>
          </a:xfrm>
          <a:prstGeom prst="rect">
            <a:avLst/>
          </a:prstGeom>
        </p:spPr>
        <p:txBody>
          <a:bodyPr vert="horz" lIns="91440" tIns="45720" rIns="91440" bIns="45720" rtlCol="0" anchor="ctr"/>
          <a:lstStyle>
            <a:lvl1pPr algn="ctr">
              <a:defRPr sz="800" b="0" i="0">
                <a:solidFill>
                  <a:srgbClr val="293462"/>
                </a:solidFill>
                <a:latin typeface="Lato Light" charset="0"/>
                <a:ea typeface="Lato Light" charset="0"/>
                <a:cs typeface="Lato Light" charset="0"/>
              </a:defRPr>
            </a:lvl1pPr>
          </a:lstStyle>
          <a:p>
            <a:fld id="{C25B6BBD-0D69-B745-9FC6-A80677FE9FDF}" type="datetime4">
              <a:rPr lang="de-DE" smtClean="0"/>
              <a:t>3. Februar 2026</a:t>
            </a:fld>
            <a:endParaRPr lang="de-DE"/>
          </a:p>
        </p:txBody>
      </p:sp>
      <p:sp>
        <p:nvSpPr>
          <p:cNvPr id="5" name="Footer Placeholder 4"/>
          <p:cNvSpPr>
            <a:spLocks noGrp="1"/>
          </p:cNvSpPr>
          <p:nvPr>
            <p:ph type="ftr" sz="quarter" idx="3"/>
          </p:nvPr>
        </p:nvSpPr>
        <p:spPr>
          <a:xfrm>
            <a:off x="2582862" y="6359399"/>
            <a:ext cx="7508876" cy="365125"/>
          </a:xfrm>
          <a:prstGeom prst="rect">
            <a:avLst/>
          </a:prstGeom>
        </p:spPr>
        <p:txBody>
          <a:bodyPr vert="horz" lIns="91440" tIns="45720" rIns="91440" bIns="45720" rtlCol="0" anchor="ctr"/>
          <a:lstStyle>
            <a:lvl1pPr algn="l">
              <a:defRPr sz="800" b="0" i="0">
                <a:solidFill>
                  <a:srgbClr val="293462"/>
                </a:solidFill>
                <a:latin typeface="Lato Light" charset="0"/>
                <a:ea typeface="Lato Light" charset="0"/>
                <a:cs typeface="Lato Light" charset="0"/>
              </a:defRPr>
            </a:lvl1pPr>
          </a:lstStyle>
          <a:p>
            <a:r>
              <a:rPr lang="de-DE"/>
              <a:t>Krankenhäuser &amp; Rehakliniken als Startpunkte der Patient:innenreise mit APONTIS Iltria</a:t>
            </a:r>
          </a:p>
        </p:txBody>
      </p:sp>
      <p:sp>
        <p:nvSpPr>
          <p:cNvPr id="6" name="Slide Number Placeholder 5"/>
          <p:cNvSpPr>
            <a:spLocks noGrp="1"/>
          </p:cNvSpPr>
          <p:nvPr>
            <p:ph type="sldNum" sz="quarter" idx="4"/>
          </p:nvPr>
        </p:nvSpPr>
        <p:spPr>
          <a:xfrm>
            <a:off x="577910" y="6356350"/>
            <a:ext cx="505691" cy="365125"/>
          </a:xfrm>
          <a:prstGeom prst="rect">
            <a:avLst/>
          </a:prstGeom>
        </p:spPr>
        <p:txBody>
          <a:bodyPr vert="horz" lIns="91440" tIns="45720" rIns="91440" bIns="45720" rtlCol="0" anchor="ctr"/>
          <a:lstStyle>
            <a:lvl1pPr algn="l">
              <a:defRPr sz="800" b="0" i="0">
                <a:solidFill>
                  <a:srgbClr val="293462"/>
                </a:solidFill>
                <a:latin typeface="Lato Light" charset="0"/>
                <a:ea typeface="Lato Light" charset="0"/>
                <a:cs typeface="Lato Light" charset="0"/>
              </a:defRPr>
            </a:lvl1pPr>
          </a:lstStyle>
          <a:p>
            <a:fld id="{228B9B32-4C81-AF47-9361-0A571CCDDFED}" type="slidenum">
              <a:rPr lang="de-DE" smtClean="0"/>
              <a:pPr/>
              <a:t>‹Nr.›</a:t>
            </a:fld>
            <a:endParaRPr lang="de-DE"/>
          </a:p>
        </p:txBody>
      </p:sp>
      <p:pic>
        <p:nvPicPr>
          <p:cNvPr id="7" name="Graphic 6">
            <a:extLst>
              <a:ext uri="{FF2B5EF4-FFF2-40B4-BE49-F238E27FC236}">
                <a16:creationId xmlns:a16="http://schemas.microsoft.com/office/drawing/2014/main" id="{59772FCE-8A6D-2F49-888B-2A2F191B5196}"/>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642848" y="5876925"/>
            <a:ext cx="876300" cy="838200"/>
          </a:xfrm>
          <a:prstGeom prst="rect">
            <a:avLst/>
          </a:prstGeom>
        </p:spPr>
      </p:pic>
    </p:spTree>
    <p:extLst>
      <p:ext uri="{BB962C8B-B14F-4D97-AF65-F5344CB8AC3E}">
        <p14:creationId xmlns:p14="http://schemas.microsoft.com/office/powerpoint/2010/main" val="1172876353"/>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2" r:id="rId4"/>
    <p:sldLayoutId id="2147483650" r:id="rId5"/>
  </p:sldLayoutIdLst>
  <p:hf hdr="0"/>
  <p:txStyles>
    <p:titleStyle>
      <a:lvl1pPr algn="l" defTabSz="914400" rtl="0" eaLnBrk="1" latinLnBrk="0" hangingPunct="1">
        <a:lnSpc>
          <a:spcPct val="90000"/>
        </a:lnSpc>
        <a:spcBef>
          <a:spcPct val="0"/>
        </a:spcBef>
        <a:buNone/>
        <a:defRPr sz="4400" kern="1200">
          <a:solidFill>
            <a:schemeClr val="tx1"/>
          </a:solidFill>
          <a:latin typeface="Reddit Sans" pitchFamily="2" charset="77"/>
          <a:ea typeface="Reddit Sans" pitchFamily="2" charset="77"/>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Reddit Sans" pitchFamily="2" charset="77"/>
          <a:ea typeface="Reddit Sans" pitchFamily="2" charset="77"/>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Reddit Sans" pitchFamily="2" charset="77"/>
          <a:ea typeface="Reddit Sans" pitchFamily="2" charset="77"/>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Reddit Sans" pitchFamily="2" charset="77"/>
          <a:ea typeface="Reddit Sans" pitchFamily="2" charset="77"/>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Reddit Sans" pitchFamily="2" charset="77"/>
          <a:ea typeface="Reddit Sans" pitchFamily="2" charset="77"/>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Reddit Sans" pitchFamily="2" charset="77"/>
          <a:ea typeface="Reddit Sans" pitchFamily="2" charset="77"/>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415" userDrawn="1">
          <p15:clr>
            <a:srgbClr val="F26B43"/>
          </p15:clr>
        </p15:guide>
        <p15:guide id="4" pos="7265" userDrawn="1">
          <p15:clr>
            <a:srgbClr val="F26B43"/>
          </p15:clr>
        </p15:guide>
        <p15:guide id="5" orient="horz" pos="4156" userDrawn="1">
          <p15:clr>
            <a:srgbClr val="F26B43"/>
          </p15:clr>
        </p15:guide>
        <p15:guide id="6" orient="horz" pos="3702" userDrawn="1">
          <p15:clr>
            <a:srgbClr val="F26B43"/>
          </p15:clr>
        </p15:guide>
        <p15:guide id="7" orient="horz" pos="164" userDrawn="1">
          <p15:clr>
            <a:srgbClr val="F26B43"/>
          </p15:clr>
        </p15:guide>
        <p15:guide id="8" orient="horz" pos="595" userDrawn="1">
          <p15:clr>
            <a:srgbClr val="F26B43"/>
          </p15:clr>
        </p15:guide>
        <p15:guide id="9" pos="6357" userDrawn="1">
          <p15:clr>
            <a:srgbClr val="F26B43"/>
          </p15:clr>
        </p15:guide>
        <p15:guide id="10" orient="horz" pos="25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484" y="1844782"/>
            <a:ext cx="9769703" cy="2432980"/>
          </a:xfrm>
        </p:spPr>
        <p:txBody>
          <a:bodyPr>
            <a:noAutofit/>
          </a:bodyPr>
          <a:lstStyle/>
          <a:p>
            <a:r>
              <a:rPr lang="de-DE" sz="4800" dirty="0">
                <a:solidFill>
                  <a:srgbClr val="FCFCFC"/>
                </a:solidFill>
              </a:rPr>
              <a:t>Krankenhäuser &amp; Rehakliniken als Startpunkte der </a:t>
            </a:r>
            <a:r>
              <a:rPr lang="de-DE" sz="4800" dirty="0" err="1">
                <a:solidFill>
                  <a:srgbClr val="FCFCFC"/>
                </a:solidFill>
              </a:rPr>
              <a:t>Patient:innenreise</a:t>
            </a:r>
            <a:r>
              <a:rPr lang="de-DE" sz="4800" dirty="0">
                <a:solidFill>
                  <a:srgbClr val="FCFCFC"/>
                </a:solidFill>
              </a:rPr>
              <a:t> mit APONTIS </a:t>
            </a:r>
            <a:r>
              <a:rPr lang="de-DE" sz="4800" dirty="0" err="1">
                <a:solidFill>
                  <a:srgbClr val="FCFCFC"/>
                </a:solidFill>
              </a:rPr>
              <a:t>Iltria</a:t>
            </a:r>
            <a:endParaRPr lang="de-DE" sz="4800" dirty="0">
              <a:solidFill>
                <a:srgbClr val="FCFCFC"/>
              </a:solidFill>
              <a:latin typeface="Montserrat" pitchFamily="2" charset="77"/>
            </a:endParaRPr>
          </a:p>
        </p:txBody>
      </p:sp>
      <p:sp>
        <p:nvSpPr>
          <p:cNvPr id="3" name="Text Placeholder 2"/>
          <p:cNvSpPr>
            <a:spLocks noGrp="1"/>
          </p:cNvSpPr>
          <p:nvPr>
            <p:ph type="body" idx="1"/>
          </p:nvPr>
        </p:nvSpPr>
        <p:spPr/>
        <p:txBody>
          <a:bodyPr anchor="b"/>
          <a:lstStyle/>
          <a:p>
            <a:r>
              <a:rPr lang="de-DE" dirty="0">
                <a:solidFill>
                  <a:srgbClr val="FF325D"/>
                </a:solidFill>
              </a:rPr>
              <a:t>Dr. Mathias Winkel, Dr. Tobias Setzer</a:t>
            </a:r>
          </a:p>
        </p:txBody>
      </p:sp>
      <p:sp>
        <p:nvSpPr>
          <p:cNvPr id="7" name="Text Placeholder 6"/>
          <p:cNvSpPr>
            <a:spLocks noGrp="1"/>
          </p:cNvSpPr>
          <p:nvPr>
            <p:ph type="body" idx="13"/>
          </p:nvPr>
        </p:nvSpPr>
        <p:spPr/>
        <p:txBody>
          <a:bodyPr anchor="t">
            <a:normAutofit/>
          </a:bodyPr>
          <a:lstStyle/>
          <a:p>
            <a:r>
              <a:rPr lang="de-DE" sz="1400" dirty="0"/>
              <a:t>05. Februar 2026</a:t>
            </a:r>
          </a:p>
        </p:txBody>
      </p:sp>
      <p:sp>
        <p:nvSpPr>
          <p:cNvPr id="4" name="Date Placeholder 3">
            <a:extLst>
              <a:ext uri="{FF2B5EF4-FFF2-40B4-BE49-F238E27FC236}">
                <a16:creationId xmlns:a16="http://schemas.microsoft.com/office/drawing/2014/main" id="{C30F7CB3-E4C4-6642-A1F3-10E0905FDABB}"/>
              </a:ext>
            </a:extLst>
          </p:cNvPr>
          <p:cNvSpPr>
            <a:spLocks noGrp="1"/>
          </p:cNvSpPr>
          <p:nvPr>
            <p:ph type="dt" sz="half" idx="4294967295"/>
          </p:nvPr>
        </p:nvSpPr>
        <p:spPr>
          <a:xfrm>
            <a:off x="1141989" y="6356349"/>
            <a:ext cx="1382485" cy="365125"/>
          </a:xfrm>
        </p:spPr>
        <p:txBody>
          <a:bodyPr/>
          <a:lstStyle/>
          <a:p>
            <a:fld id="{33432A9B-14EC-104E-B41F-C1FF6DF1630B}" type="datetime4">
              <a:rPr lang="de-DE" smtClean="0"/>
              <a:t>3. Februar 2026</a:t>
            </a:fld>
            <a:endParaRPr lang="de-DE" dirty="0"/>
          </a:p>
        </p:txBody>
      </p:sp>
      <p:sp>
        <p:nvSpPr>
          <p:cNvPr id="5" name="Footer Placeholder 4">
            <a:extLst>
              <a:ext uri="{FF2B5EF4-FFF2-40B4-BE49-F238E27FC236}">
                <a16:creationId xmlns:a16="http://schemas.microsoft.com/office/drawing/2014/main" id="{8BB173A4-35CA-1A49-B957-EA3E968956AC}"/>
              </a:ext>
            </a:extLst>
          </p:cNvPr>
          <p:cNvSpPr>
            <a:spLocks noGrp="1"/>
          </p:cNvSpPr>
          <p:nvPr>
            <p:ph type="ftr" sz="quarter" idx="4294967295"/>
          </p:nvPr>
        </p:nvSpPr>
        <p:spPr>
          <a:xfrm>
            <a:off x="2582862" y="6359399"/>
            <a:ext cx="7508876" cy="365125"/>
          </a:xfrm>
        </p:spPr>
        <p:txBody>
          <a:bodyPr/>
          <a:lstStyle/>
          <a:p>
            <a:r>
              <a:rPr lang="de-DE"/>
              <a:t>Krankenhäuser &amp; Rehakliniken als Startpunkte der Patient:innenreise mit APONTIS Iltria</a:t>
            </a:r>
            <a:endParaRPr lang="de-DE" dirty="0"/>
          </a:p>
        </p:txBody>
      </p:sp>
      <p:sp>
        <p:nvSpPr>
          <p:cNvPr id="6" name="Slide Number Placeholder 5">
            <a:extLst>
              <a:ext uri="{FF2B5EF4-FFF2-40B4-BE49-F238E27FC236}">
                <a16:creationId xmlns:a16="http://schemas.microsoft.com/office/drawing/2014/main" id="{7B936FC1-A03B-AF40-B630-92786EF717E2}"/>
              </a:ext>
            </a:extLst>
          </p:cNvPr>
          <p:cNvSpPr>
            <a:spLocks noGrp="1"/>
          </p:cNvSpPr>
          <p:nvPr>
            <p:ph type="sldNum" sz="quarter" idx="4294967295"/>
          </p:nvPr>
        </p:nvSpPr>
        <p:spPr>
          <a:xfrm>
            <a:off x="577910" y="6356350"/>
            <a:ext cx="505691" cy="365125"/>
          </a:xfrm>
        </p:spPr>
        <p:txBody>
          <a:bodyPr/>
          <a:lstStyle/>
          <a:p>
            <a:fld id="{228B9B32-4C81-AF47-9361-0A571CCDDFED}" type="slidenum">
              <a:rPr lang="de-DE" smtClean="0"/>
              <a:pPr/>
              <a:t>2</a:t>
            </a:fld>
            <a:endParaRPr lang="de-DE"/>
          </a:p>
        </p:txBody>
      </p:sp>
    </p:spTree>
    <p:extLst>
      <p:ext uri="{BB962C8B-B14F-4D97-AF65-F5344CB8AC3E}">
        <p14:creationId xmlns:p14="http://schemas.microsoft.com/office/powerpoint/2010/main" val="87782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E6255-8835-214D-B90D-D756CDF3D88E}"/>
              </a:ext>
            </a:extLst>
          </p:cNvPr>
          <p:cNvSpPr>
            <a:spLocks noGrp="1"/>
          </p:cNvSpPr>
          <p:nvPr>
            <p:ph type="ctrTitle"/>
          </p:nvPr>
        </p:nvSpPr>
        <p:spPr/>
        <p:txBody>
          <a:bodyPr/>
          <a:lstStyle/>
          <a:p>
            <a:r>
              <a:rPr lang="de-DE" dirty="0"/>
              <a:t>EXECUTIVE SUMMARY</a:t>
            </a:r>
          </a:p>
        </p:txBody>
      </p:sp>
      <p:sp>
        <p:nvSpPr>
          <p:cNvPr id="3" name="Subtitle 2">
            <a:extLst>
              <a:ext uri="{FF2B5EF4-FFF2-40B4-BE49-F238E27FC236}">
                <a16:creationId xmlns:a16="http://schemas.microsoft.com/office/drawing/2014/main" id="{9B6B3286-33C3-9842-A181-138091C65544}"/>
              </a:ext>
            </a:extLst>
          </p:cNvPr>
          <p:cNvSpPr>
            <a:spLocks noGrp="1"/>
          </p:cNvSpPr>
          <p:nvPr>
            <p:ph type="subTitle" idx="1"/>
          </p:nvPr>
        </p:nvSpPr>
        <p:spPr/>
        <p:txBody>
          <a:bodyPr>
            <a:normAutofit fontScale="85000" lnSpcReduction="10000"/>
          </a:bodyPr>
          <a:lstStyle/>
          <a:p>
            <a:r>
              <a:rPr lang="de-DE" dirty="0"/>
              <a:t>Fachabteilungsprofile in Kombination mit ICD-10 Fällen liefern die Top 30 Einrichtungen</a:t>
            </a:r>
          </a:p>
        </p:txBody>
      </p:sp>
      <p:sp>
        <p:nvSpPr>
          <p:cNvPr id="4" name="Date Placeholder 3">
            <a:extLst>
              <a:ext uri="{FF2B5EF4-FFF2-40B4-BE49-F238E27FC236}">
                <a16:creationId xmlns:a16="http://schemas.microsoft.com/office/drawing/2014/main" id="{05A43D12-2DA3-8243-9A6A-CFBC45365164}"/>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5" name="Footer Placeholder 4">
            <a:extLst>
              <a:ext uri="{FF2B5EF4-FFF2-40B4-BE49-F238E27FC236}">
                <a16:creationId xmlns:a16="http://schemas.microsoft.com/office/drawing/2014/main" id="{BE47F289-AEB5-9F4B-BF08-E847EC320B7A}"/>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6" name="Slide Number Placeholder 5">
            <a:extLst>
              <a:ext uri="{FF2B5EF4-FFF2-40B4-BE49-F238E27FC236}">
                <a16:creationId xmlns:a16="http://schemas.microsoft.com/office/drawing/2014/main" id="{AB92B711-5434-A04E-8841-E321270F7A31}"/>
              </a:ext>
            </a:extLst>
          </p:cNvPr>
          <p:cNvSpPr>
            <a:spLocks noGrp="1"/>
          </p:cNvSpPr>
          <p:nvPr>
            <p:ph type="sldNum" sz="quarter" idx="12"/>
          </p:nvPr>
        </p:nvSpPr>
        <p:spPr/>
        <p:txBody>
          <a:bodyPr/>
          <a:lstStyle/>
          <a:p>
            <a:fld id="{228B9B32-4C81-AF47-9361-0A571CCDDFED}" type="slidenum">
              <a:rPr lang="de-DE" smtClean="0"/>
              <a:pPr/>
              <a:t>3</a:t>
            </a:fld>
            <a:endParaRPr lang="de-DE"/>
          </a:p>
        </p:txBody>
      </p:sp>
      <p:sp>
        <p:nvSpPr>
          <p:cNvPr id="8" name="Rounded Rectangle 7">
            <a:extLst>
              <a:ext uri="{FF2B5EF4-FFF2-40B4-BE49-F238E27FC236}">
                <a16:creationId xmlns:a16="http://schemas.microsoft.com/office/drawing/2014/main" id="{5360ADF5-8B7C-564F-8CD5-BEBA874FB9A4}"/>
              </a:ext>
            </a:extLst>
          </p:cNvPr>
          <p:cNvSpPr/>
          <p:nvPr/>
        </p:nvSpPr>
        <p:spPr>
          <a:xfrm>
            <a:off x="658813" y="1340421"/>
            <a:ext cx="3075304" cy="4536504"/>
          </a:xfrm>
          <a:prstGeom prst="roundRect">
            <a:avLst>
              <a:gd name="adj" fmla="val 0"/>
            </a:avLst>
          </a:prstGeom>
          <a:solidFill>
            <a:schemeClr val="bg1"/>
          </a:solidFill>
          <a:ln>
            <a:noFill/>
          </a:ln>
          <a:effectLst>
            <a:outerShdw blurRad="393700" dist="114300" dir="5400000" algn="c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lstStyle/>
          <a:p>
            <a:pPr>
              <a:lnSpc>
                <a:spcPct val="120000"/>
              </a:lnSpc>
            </a:pPr>
            <a:r>
              <a:rPr lang="de-DE" sz="1600" dirty="0">
                <a:solidFill>
                  <a:schemeClr val="tx1"/>
                </a:solidFill>
                <a:latin typeface="Reddit Sans" pitchFamily="2" charset="77"/>
                <a:ea typeface="Reddit Sans" pitchFamily="2" charset="77"/>
              </a:rPr>
              <a:t>Vorgehen: Kombinierte Suche nach</a:t>
            </a:r>
          </a:p>
          <a:p>
            <a:pPr marL="342900" indent="-342900">
              <a:lnSpc>
                <a:spcPct val="120000"/>
              </a:lnSpc>
              <a:buAutoNum type="arabicParenR"/>
            </a:pPr>
            <a:r>
              <a:rPr lang="de-DE" sz="1600" dirty="0">
                <a:solidFill>
                  <a:schemeClr val="tx1"/>
                </a:solidFill>
                <a:latin typeface="Reddit Sans" pitchFamily="2" charset="77"/>
                <a:ea typeface="Reddit Sans" pitchFamily="2" charset="77"/>
              </a:rPr>
              <a:t>Rehakliniken, Neurologischer Rehabilitation, und geriatrischen Einrichtungen und vollstationären Fallzahlen</a:t>
            </a:r>
          </a:p>
          <a:p>
            <a:pPr marL="342900" indent="-342900">
              <a:lnSpc>
                <a:spcPct val="120000"/>
              </a:lnSpc>
              <a:buAutoNum type="arabicParenR"/>
            </a:pPr>
            <a:r>
              <a:rPr lang="de-DE" sz="1600" dirty="0">
                <a:solidFill>
                  <a:schemeClr val="tx1"/>
                </a:solidFill>
                <a:latin typeface="Reddit Sans" pitchFamily="2" charset="77"/>
                <a:ea typeface="Reddit Sans" pitchFamily="2" charset="77"/>
              </a:rPr>
              <a:t>Suche nach </a:t>
            </a:r>
            <a:r>
              <a:rPr lang="de-DE" sz="1600" dirty="0" err="1">
                <a:solidFill>
                  <a:schemeClr val="tx1"/>
                </a:solidFill>
                <a:latin typeface="Reddit Sans" pitchFamily="2" charset="77"/>
                <a:ea typeface="Reddit Sans" pitchFamily="2" charset="77"/>
              </a:rPr>
              <a:t>Aponits</a:t>
            </a:r>
            <a:r>
              <a:rPr lang="de-DE" sz="1600" dirty="0">
                <a:solidFill>
                  <a:schemeClr val="tx1"/>
                </a:solidFill>
                <a:latin typeface="Reddit Sans" pitchFamily="2" charset="77"/>
                <a:ea typeface="Reddit Sans" pitchFamily="2" charset="77"/>
              </a:rPr>
              <a:t> </a:t>
            </a:r>
            <a:r>
              <a:rPr lang="de-DE" sz="1600" dirty="0" err="1">
                <a:solidFill>
                  <a:schemeClr val="tx1"/>
                </a:solidFill>
                <a:latin typeface="Reddit Sans" pitchFamily="2" charset="77"/>
                <a:ea typeface="Reddit Sans" pitchFamily="2" charset="77"/>
              </a:rPr>
              <a:t>Iltria</a:t>
            </a:r>
            <a:r>
              <a:rPr lang="de-DE" sz="1600" dirty="0">
                <a:solidFill>
                  <a:schemeClr val="tx1"/>
                </a:solidFill>
                <a:latin typeface="Reddit Sans" pitchFamily="2" charset="77"/>
                <a:ea typeface="Reddit Sans" pitchFamily="2" charset="77"/>
              </a:rPr>
              <a:t> relevante ICD-10 Fällen</a:t>
            </a:r>
          </a:p>
          <a:p>
            <a:pPr marL="342900" indent="-342900">
              <a:lnSpc>
                <a:spcPct val="120000"/>
              </a:lnSpc>
              <a:buAutoNum type="arabicParenR"/>
            </a:pPr>
            <a:endParaRPr lang="de-DE" sz="1600" dirty="0">
              <a:solidFill>
                <a:schemeClr val="tx1"/>
              </a:solidFill>
              <a:latin typeface="Reddit Sans" pitchFamily="2" charset="77"/>
              <a:ea typeface="Reddit Sans" pitchFamily="2" charset="77"/>
            </a:endParaRPr>
          </a:p>
          <a:p>
            <a:pPr>
              <a:lnSpc>
                <a:spcPct val="120000"/>
              </a:lnSpc>
            </a:pPr>
            <a:r>
              <a:rPr lang="de-DE" sz="1600" dirty="0">
                <a:solidFill>
                  <a:schemeClr val="tx1"/>
                </a:solidFill>
                <a:latin typeface="Reddit Sans" pitchFamily="2" charset="77"/>
                <a:ea typeface="Reddit Sans" pitchFamily="2" charset="77"/>
              </a:rPr>
              <a:t>Resultiert in einem </a:t>
            </a:r>
            <a:r>
              <a:rPr lang="de-DE" sz="1600" dirty="0" err="1">
                <a:solidFill>
                  <a:schemeClr val="tx1"/>
                </a:solidFill>
                <a:latin typeface="Reddit Sans" pitchFamily="2" charset="77"/>
                <a:ea typeface="Reddit Sans" pitchFamily="2" charset="77"/>
              </a:rPr>
              <a:t>Scatter</a:t>
            </a:r>
            <a:r>
              <a:rPr lang="de-DE" sz="1600" dirty="0">
                <a:solidFill>
                  <a:schemeClr val="tx1"/>
                </a:solidFill>
                <a:latin typeface="Reddit Sans" pitchFamily="2" charset="77"/>
                <a:ea typeface="Reddit Sans" pitchFamily="2" charset="77"/>
              </a:rPr>
              <a:t> Plot</a:t>
            </a:r>
          </a:p>
          <a:p>
            <a:pPr>
              <a:lnSpc>
                <a:spcPct val="120000"/>
              </a:lnSpc>
            </a:pPr>
            <a:endParaRPr lang="de-DE" sz="1600" dirty="0">
              <a:solidFill>
                <a:schemeClr val="tx1"/>
              </a:solidFill>
              <a:latin typeface="Reddit Sans" pitchFamily="2" charset="77"/>
              <a:ea typeface="Reddit Sans" pitchFamily="2" charset="77"/>
            </a:endParaRPr>
          </a:p>
          <a:p>
            <a:pPr>
              <a:lnSpc>
                <a:spcPct val="120000"/>
              </a:lnSpc>
            </a:pPr>
            <a:r>
              <a:rPr lang="de-DE" sz="1600" dirty="0">
                <a:solidFill>
                  <a:schemeClr val="tx1"/>
                </a:solidFill>
                <a:latin typeface="Reddit Sans" pitchFamily="2" charset="77"/>
                <a:ea typeface="Reddit Sans" pitchFamily="2" charset="77"/>
              </a:rPr>
              <a:t>Für eine abschließende Potenzialanalyse benötigt es weiteren Business-Input. Auch die Analyse nach OPS-301 Codes kann zielführend sein</a:t>
            </a:r>
          </a:p>
          <a:p>
            <a:pPr marL="285750" indent="-285750">
              <a:lnSpc>
                <a:spcPct val="120000"/>
              </a:lnSpc>
              <a:buFont typeface="Arial" panose="020B0604020202020204" pitchFamily="34" charset="0"/>
              <a:buChar char="•"/>
            </a:pPr>
            <a:endParaRPr lang="de-DE" sz="1600" dirty="0">
              <a:solidFill>
                <a:schemeClr val="tx1"/>
              </a:solidFill>
              <a:latin typeface="Reddit Sans" pitchFamily="2" charset="77"/>
              <a:ea typeface="Reddit Sans" pitchFamily="2" charset="77"/>
            </a:endParaRPr>
          </a:p>
        </p:txBody>
      </p:sp>
    </p:spTree>
    <p:extLst>
      <p:ext uri="{BB962C8B-B14F-4D97-AF65-F5344CB8AC3E}">
        <p14:creationId xmlns:p14="http://schemas.microsoft.com/office/powerpoint/2010/main" val="289527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3E779-1EC1-714A-AEF3-16D69A4B5C98}"/>
              </a:ext>
            </a:extLst>
          </p:cNvPr>
          <p:cNvSpPr>
            <a:spLocks noGrp="1"/>
          </p:cNvSpPr>
          <p:nvPr>
            <p:ph idx="1"/>
          </p:nvPr>
        </p:nvSpPr>
        <p:spPr>
          <a:xfrm>
            <a:off x="572050" y="1124745"/>
            <a:ext cx="10961137" cy="4752180"/>
          </a:xfrm>
        </p:spPr>
        <p:txBody>
          <a:bodyPr>
            <a:normAutofit fontScale="55000" lnSpcReduction="20000"/>
          </a:bodyPr>
          <a:lstStyle/>
          <a:p>
            <a:pPr marL="0" indent="0">
              <a:lnSpc>
                <a:spcPct val="140000"/>
              </a:lnSpc>
              <a:buNone/>
            </a:pPr>
            <a:r>
              <a:rPr lang="de-DE" dirty="0"/>
              <a:t>In dieser Analyse sollen umsatz- und außendienstrelevante Krankenhäuser, wie z.B. Rehakliniken, Neurologische Rehabilitationseinrichtungen oder auch geriatrische Einrichtung, in Deutschland identifiziert werden, die ihren </a:t>
            </a:r>
            <a:r>
              <a:rPr lang="de-DE" dirty="0" err="1"/>
              <a:t>Patient:innen</a:t>
            </a:r>
            <a:r>
              <a:rPr lang="de-DE" dirty="0"/>
              <a:t> einen möglicherweise einen Arztbrief ausstellen, der die Gabe eines APONTIS Kombinationspräparats nahegelegt. Im Speziellen sollen mögliche Außendienst- und Marketingziele für das Produkt </a:t>
            </a:r>
            <a:r>
              <a:rPr lang="de-DE" dirty="0" err="1"/>
              <a:t>Iltria</a:t>
            </a:r>
            <a:r>
              <a:rPr lang="de-DE" dirty="0"/>
              <a:t> identifiziert werden, das in der Sekundärprophylaxe nach kardiovaskulären Events (z.B. Herzinfarkt oder Schlaganfall) eingesetzt wird. Das Wissen über signifikante </a:t>
            </a:r>
            <a:r>
              <a:rPr lang="de-DE" dirty="0" err="1"/>
              <a:t>Patient:innenströme</a:t>
            </a:r>
            <a:r>
              <a:rPr lang="de-DE" dirty="0"/>
              <a:t> mit entsprechender Symptomatik in einem Haus ermöglicht es den APONTIS Marketing- und </a:t>
            </a:r>
            <a:r>
              <a:rPr lang="de-DE" dirty="0" err="1"/>
              <a:t>Außendienstexpert:innen</a:t>
            </a:r>
            <a:r>
              <a:rPr lang="de-DE" dirty="0"/>
              <a:t>, mit den behandelnden </a:t>
            </a:r>
            <a:r>
              <a:rPr lang="de-DE" dirty="0" err="1"/>
              <a:t>Ärzt:innen</a:t>
            </a:r>
            <a:r>
              <a:rPr lang="de-DE" dirty="0"/>
              <a:t> frühzeitig ins Gespräch zu kommen, um die Behandlung betroffener </a:t>
            </a:r>
            <a:r>
              <a:rPr lang="de-DE" dirty="0" err="1"/>
              <a:t>Patient:innen</a:t>
            </a:r>
            <a:r>
              <a:rPr lang="de-DE" dirty="0"/>
              <a:t> frühzeitig zu begleiten. Somit können </a:t>
            </a:r>
            <a:r>
              <a:rPr lang="de-DE" dirty="0" err="1"/>
              <a:t>Patient:innen</a:t>
            </a:r>
            <a:r>
              <a:rPr lang="de-DE" dirty="0"/>
              <a:t> bereits zu Beginn ihrer Patientenreise von den Vorzüge der APONTIS Kombipräparate profitieren. Grundlage dieser Analyse sind die vom Gemeinsamen Bundesausschuss veröffentlichten Qualitätsberichte der Krankenhäuser.</a:t>
            </a:r>
          </a:p>
          <a:p>
            <a:pPr marL="0" indent="0">
              <a:lnSpc>
                <a:spcPct val="140000"/>
              </a:lnSpc>
              <a:buNone/>
            </a:pPr>
            <a:r>
              <a:rPr lang="de-DE" b="1" dirty="0"/>
              <a:t>Folgende Aspekte sollen in dieser Analyse untersucht werden werden:</a:t>
            </a:r>
          </a:p>
          <a:p>
            <a:pPr>
              <a:lnSpc>
                <a:spcPct val="140000"/>
              </a:lnSpc>
            </a:pPr>
            <a:r>
              <a:rPr lang="de-DE" dirty="0"/>
              <a:t>Identifizierung von Reha-Kliniken, Neurologischen Rehabilitationseinrichtungen und </a:t>
            </a:r>
            <a:r>
              <a:rPr lang="de-DE" dirty="0" err="1"/>
              <a:t>Geriatrien</a:t>
            </a:r>
            <a:r>
              <a:rPr lang="de-DE" dirty="0"/>
              <a:t> </a:t>
            </a:r>
            <a:r>
              <a:rPr lang="de-DE" b="1" dirty="0"/>
              <a:t>anhand ihrer Fachabteilungen</a:t>
            </a:r>
            <a:endParaRPr lang="de-DE" dirty="0"/>
          </a:p>
          <a:p>
            <a:pPr>
              <a:lnSpc>
                <a:spcPct val="140000"/>
              </a:lnSpc>
            </a:pPr>
            <a:r>
              <a:rPr lang="de-DE" dirty="0"/>
              <a:t>Identifizierung von Krankenhäuser, Reha-Einrichtungen Neurologischen Rehabilitationseinrichtungen und </a:t>
            </a:r>
            <a:r>
              <a:rPr lang="de-DE" dirty="0" err="1"/>
              <a:t>Geriatrien</a:t>
            </a:r>
            <a:r>
              <a:rPr lang="de-DE" dirty="0"/>
              <a:t> anhand der für das </a:t>
            </a:r>
            <a:r>
              <a:rPr lang="de-DE" b="1" dirty="0"/>
              <a:t>APONTIS </a:t>
            </a:r>
            <a:r>
              <a:rPr lang="de-DE" b="1" dirty="0" err="1"/>
              <a:t>Iltria</a:t>
            </a:r>
            <a:r>
              <a:rPr lang="de-DE" b="1" dirty="0"/>
              <a:t> relevanten ICD-10 Fälle</a:t>
            </a:r>
            <a:endParaRPr lang="de-DE" dirty="0"/>
          </a:p>
          <a:p>
            <a:pPr>
              <a:lnSpc>
                <a:spcPct val="140000"/>
              </a:lnSpc>
            </a:pPr>
            <a:r>
              <a:rPr lang="de-DE" dirty="0"/>
              <a:t>Identifizierung von Krankenhäuser, Reha-Einrichtungen Neurologischen Rehabilitationseinrichtungen und </a:t>
            </a:r>
            <a:r>
              <a:rPr lang="de-DE" dirty="0" err="1"/>
              <a:t>Geriatrien</a:t>
            </a:r>
            <a:r>
              <a:rPr lang="de-DE" dirty="0"/>
              <a:t> anhand der für das </a:t>
            </a:r>
            <a:r>
              <a:rPr lang="de-DE" b="1" dirty="0"/>
              <a:t>APONTIS </a:t>
            </a:r>
            <a:r>
              <a:rPr lang="de-DE" b="1" dirty="0" err="1"/>
              <a:t>Iltria</a:t>
            </a:r>
            <a:r>
              <a:rPr lang="de-DE" b="1" dirty="0"/>
              <a:t> relevanten OPS-301 Codes</a:t>
            </a:r>
            <a:r>
              <a:rPr lang="de-DE" dirty="0"/>
              <a:t> (Gabe eigener Produkte oder Produkte des Wettbewerbs)</a:t>
            </a:r>
          </a:p>
          <a:p>
            <a:pPr>
              <a:lnSpc>
                <a:spcPct val="140000"/>
              </a:lnSpc>
            </a:pPr>
            <a:r>
              <a:rPr lang="de-DE" dirty="0"/>
              <a:t>Kombinierende Analyse über die geeignetsten Messgrößen für ein abschließende Empfehlung</a:t>
            </a:r>
            <a:endParaRPr lang="de-DE" sz="1800" dirty="0"/>
          </a:p>
        </p:txBody>
      </p:sp>
      <p:sp>
        <p:nvSpPr>
          <p:cNvPr id="3" name="Title 2">
            <a:extLst>
              <a:ext uri="{FF2B5EF4-FFF2-40B4-BE49-F238E27FC236}">
                <a16:creationId xmlns:a16="http://schemas.microsoft.com/office/drawing/2014/main" id="{C259A1C4-DB9A-254C-9827-5D74364558FE}"/>
              </a:ext>
            </a:extLst>
          </p:cNvPr>
          <p:cNvSpPr>
            <a:spLocks noGrp="1"/>
          </p:cNvSpPr>
          <p:nvPr>
            <p:ph type="ctrTitle"/>
          </p:nvPr>
        </p:nvSpPr>
        <p:spPr/>
        <p:txBody>
          <a:bodyPr/>
          <a:lstStyle/>
          <a:p>
            <a:r>
              <a:rPr lang="de-DE" dirty="0">
                <a:solidFill>
                  <a:srgbClr val="FF325D"/>
                </a:solidFill>
              </a:rPr>
              <a:t>ZIELSETZUNG DER ANALYSE</a:t>
            </a:r>
          </a:p>
        </p:txBody>
      </p:sp>
      <p:sp>
        <p:nvSpPr>
          <p:cNvPr id="4" name="Subtitle 3">
            <a:extLst>
              <a:ext uri="{FF2B5EF4-FFF2-40B4-BE49-F238E27FC236}">
                <a16:creationId xmlns:a16="http://schemas.microsoft.com/office/drawing/2014/main" id="{214DAC99-BF5D-584F-8C90-17229E008A76}"/>
              </a:ext>
            </a:extLst>
          </p:cNvPr>
          <p:cNvSpPr>
            <a:spLocks noGrp="1"/>
          </p:cNvSpPr>
          <p:nvPr>
            <p:ph type="subTitle" idx="13"/>
          </p:nvPr>
        </p:nvSpPr>
        <p:spPr/>
        <p:txBody>
          <a:bodyPr>
            <a:normAutofit fontScale="85000" lnSpcReduction="10000"/>
          </a:bodyPr>
          <a:lstStyle/>
          <a:p>
            <a:r>
              <a:rPr lang="de-DE" dirty="0"/>
              <a:t>Krankenhäuser &amp; Rehakliniken als Startpunkte der </a:t>
            </a:r>
            <a:r>
              <a:rPr lang="de-DE" dirty="0" err="1"/>
              <a:t>Patient:innenreise</a:t>
            </a:r>
            <a:r>
              <a:rPr lang="de-DE" dirty="0"/>
              <a:t> aufgrund eines Arztbriefs</a:t>
            </a:r>
          </a:p>
        </p:txBody>
      </p:sp>
      <p:sp>
        <p:nvSpPr>
          <p:cNvPr id="5" name="Date Placeholder 4">
            <a:extLst>
              <a:ext uri="{FF2B5EF4-FFF2-40B4-BE49-F238E27FC236}">
                <a16:creationId xmlns:a16="http://schemas.microsoft.com/office/drawing/2014/main" id="{AF883381-7696-3F4D-B3C2-89911B1A39E5}"/>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6" name="Footer Placeholder 5">
            <a:extLst>
              <a:ext uri="{FF2B5EF4-FFF2-40B4-BE49-F238E27FC236}">
                <a16:creationId xmlns:a16="http://schemas.microsoft.com/office/drawing/2014/main" id="{12BA03DC-B1D8-3F40-8D4B-E7C18768F607}"/>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7" name="Slide Number Placeholder 6">
            <a:extLst>
              <a:ext uri="{FF2B5EF4-FFF2-40B4-BE49-F238E27FC236}">
                <a16:creationId xmlns:a16="http://schemas.microsoft.com/office/drawing/2014/main" id="{D2EC7292-1666-7045-BCF1-7145A4ABE27B}"/>
              </a:ext>
            </a:extLst>
          </p:cNvPr>
          <p:cNvSpPr>
            <a:spLocks noGrp="1"/>
          </p:cNvSpPr>
          <p:nvPr>
            <p:ph type="sldNum" sz="quarter" idx="12"/>
          </p:nvPr>
        </p:nvSpPr>
        <p:spPr/>
        <p:txBody>
          <a:bodyPr/>
          <a:lstStyle/>
          <a:p>
            <a:fld id="{228B9B32-4C81-AF47-9361-0A571CCDDFED}" type="slidenum">
              <a:rPr lang="de-DE" smtClean="0"/>
              <a:pPr/>
              <a:t>4</a:t>
            </a:fld>
            <a:endParaRPr lang="de-DE"/>
          </a:p>
        </p:txBody>
      </p:sp>
    </p:spTree>
    <p:extLst>
      <p:ext uri="{BB962C8B-B14F-4D97-AF65-F5344CB8AC3E}">
        <p14:creationId xmlns:p14="http://schemas.microsoft.com/office/powerpoint/2010/main" val="2096521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3E779-1EC1-714A-AEF3-16D69A4B5C98}"/>
              </a:ext>
            </a:extLst>
          </p:cNvPr>
          <p:cNvSpPr>
            <a:spLocks noGrp="1"/>
          </p:cNvSpPr>
          <p:nvPr>
            <p:ph idx="1"/>
          </p:nvPr>
        </p:nvSpPr>
        <p:spPr>
          <a:xfrm>
            <a:off x="572050" y="1124744"/>
            <a:ext cx="10961137" cy="5112567"/>
          </a:xfrm>
        </p:spPr>
        <p:txBody>
          <a:bodyPr>
            <a:normAutofit fontScale="92500" lnSpcReduction="20000"/>
          </a:bodyPr>
          <a:lstStyle/>
          <a:p>
            <a:pPr marL="0" indent="0">
              <a:lnSpc>
                <a:spcPct val="120000"/>
              </a:lnSpc>
              <a:buNone/>
            </a:pPr>
            <a:r>
              <a:rPr lang="de-DE" sz="1600" dirty="0"/>
              <a:t>Bei einer Gesamtmenge von ~1900 Krankenhäusern in Deutschland ergibt die Suche nach den Mustern</a:t>
            </a:r>
          </a:p>
          <a:p>
            <a:pPr>
              <a:lnSpc>
                <a:spcPct val="100000"/>
              </a:lnSpc>
            </a:pPr>
            <a:r>
              <a:rPr lang="de-DE" sz="1050" b="1" dirty="0"/>
              <a:t>*</a:t>
            </a:r>
            <a:r>
              <a:rPr lang="de-DE" sz="1050" b="1" dirty="0" err="1"/>
              <a:t>neurolog</a:t>
            </a:r>
            <a:r>
              <a:rPr lang="de-DE" sz="1050" b="1" dirty="0"/>
              <a:t>*</a:t>
            </a:r>
            <a:r>
              <a:rPr lang="de-DE" sz="1050" b="1" dirty="0" err="1"/>
              <a:t>reha</a:t>
            </a:r>
            <a:r>
              <a:rPr lang="de-DE" sz="1050" b="1" dirty="0"/>
              <a:t>*</a:t>
            </a:r>
            <a:endParaRPr lang="de-DE" sz="1050" dirty="0"/>
          </a:p>
          <a:p>
            <a:pPr>
              <a:lnSpc>
                <a:spcPct val="100000"/>
              </a:lnSpc>
            </a:pPr>
            <a:r>
              <a:rPr lang="de-DE" sz="1050" b="1" dirty="0"/>
              <a:t>*</a:t>
            </a:r>
            <a:r>
              <a:rPr lang="de-DE" sz="1050" b="1" dirty="0" err="1"/>
              <a:t>geriatri</a:t>
            </a:r>
            <a:r>
              <a:rPr lang="de-DE" sz="1050" b="1" dirty="0"/>
              <a:t>*</a:t>
            </a:r>
            <a:r>
              <a:rPr lang="de-DE" sz="1050" b="1" dirty="0" err="1"/>
              <a:t>reha</a:t>
            </a:r>
            <a:r>
              <a:rPr lang="de-DE" sz="1050" b="1" dirty="0"/>
              <a:t>*</a:t>
            </a:r>
            <a:endParaRPr lang="de-DE" sz="1050" dirty="0"/>
          </a:p>
          <a:p>
            <a:pPr>
              <a:lnSpc>
                <a:spcPct val="100000"/>
              </a:lnSpc>
            </a:pPr>
            <a:r>
              <a:rPr lang="de-DE" sz="1050" b="1" dirty="0"/>
              <a:t>*</a:t>
            </a:r>
            <a:r>
              <a:rPr lang="de-DE" sz="1050" b="1" dirty="0" err="1"/>
              <a:t>reha</a:t>
            </a:r>
            <a:r>
              <a:rPr lang="de-DE" sz="1050" b="1" dirty="0"/>
              <a:t>*</a:t>
            </a:r>
            <a:endParaRPr lang="de-DE" sz="1050" dirty="0"/>
          </a:p>
          <a:p>
            <a:pPr>
              <a:lnSpc>
                <a:spcPct val="100000"/>
              </a:lnSpc>
            </a:pPr>
            <a:r>
              <a:rPr lang="de-DE" sz="1050" b="1" dirty="0"/>
              <a:t>*</a:t>
            </a:r>
            <a:r>
              <a:rPr lang="de-DE" sz="1050" b="1" dirty="0" err="1"/>
              <a:t>geriatri</a:t>
            </a:r>
            <a:r>
              <a:rPr lang="de-DE" sz="1050" b="1" dirty="0"/>
              <a:t>*</a:t>
            </a:r>
          </a:p>
          <a:p>
            <a:pPr marL="0" indent="0">
              <a:lnSpc>
                <a:spcPct val="120000"/>
              </a:lnSpc>
              <a:buNone/>
            </a:pPr>
            <a:r>
              <a:rPr lang="de-DE" sz="1600" dirty="0"/>
              <a:t>ergibt insgesamt 491 Treffer. Nach Ausschluss der rein Geriatrischen Einrichtungen verbleiben </a:t>
            </a:r>
            <a:r>
              <a:rPr lang="de-DE" sz="1600" b="1" dirty="0"/>
              <a:t>118 </a:t>
            </a:r>
            <a:r>
              <a:rPr lang="de-DE" sz="1600" b="1" dirty="0" err="1"/>
              <a:t>Einrichrungen</a:t>
            </a:r>
            <a:r>
              <a:rPr lang="de-DE" sz="1600" b="1" dirty="0"/>
              <a:t> </a:t>
            </a:r>
            <a:r>
              <a:rPr lang="de-DE" sz="1600" dirty="0"/>
              <a:t>mit folgenden Versorgungsangeboten:</a:t>
            </a:r>
          </a:p>
          <a:p>
            <a:pPr>
              <a:lnSpc>
                <a:spcPct val="100000"/>
              </a:lnSpc>
            </a:pPr>
            <a:r>
              <a:rPr lang="de-DE" sz="1050" b="1" dirty="0"/>
              <a:t> Geriatrische Klinik    </a:t>
            </a:r>
          </a:p>
          <a:p>
            <a:pPr>
              <a:lnSpc>
                <a:spcPct val="100000"/>
              </a:lnSpc>
            </a:pPr>
            <a:r>
              <a:rPr lang="de-DE" sz="1050" b="1" dirty="0"/>
              <a:t> Geriatrische Rehabilitation</a:t>
            </a:r>
          </a:p>
          <a:p>
            <a:pPr>
              <a:lnSpc>
                <a:spcPct val="100000"/>
              </a:lnSpc>
            </a:pPr>
            <a:r>
              <a:rPr lang="de-DE" sz="1050" b="1" dirty="0"/>
              <a:t> Geriatrische </a:t>
            </a:r>
            <a:r>
              <a:rPr lang="de-DE" sz="1050" b="1" dirty="0" err="1"/>
              <a:t>Klinik+Geriatrische</a:t>
            </a:r>
            <a:r>
              <a:rPr lang="de-DE" sz="1050" b="1" dirty="0"/>
              <a:t> Rehabilitation</a:t>
            </a:r>
          </a:p>
          <a:p>
            <a:pPr>
              <a:lnSpc>
                <a:spcPct val="100000"/>
              </a:lnSpc>
            </a:pPr>
            <a:r>
              <a:rPr lang="de-DE" sz="1050" b="1" dirty="0"/>
              <a:t> Geriatrische </a:t>
            </a:r>
            <a:r>
              <a:rPr lang="de-DE" sz="1050" b="1" dirty="0" err="1"/>
              <a:t>Klinik+Rehaklinik</a:t>
            </a:r>
            <a:endParaRPr lang="de-DE" sz="1050" b="1" dirty="0"/>
          </a:p>
          <a:p>
            <a:pPr>
              <a:lnSpc>
                <a:spcPct val="100000"/>
              </a:lnSpc>
            </a:pPr>
            <a:r>
              <a:rPr lang="de-DE" sz="1050" b="1" dirty="0"/>
              <a:t> Geriatrische </a:t>
            </a:r>
            <a:r>
              <a:rPr lang="de-DE" sz="1050" b="1" dirty="0" err="1"/>
              <a:t>Klinik+Neurologische</a:t>
            </a:r>
            <a:r>
              <a:rPr lang="de-DE" sz="1050" b="1" dirty="0"/>
              <a:t> Rehabilitation</a:t>
            </a:r>
          </a:p>
          <a:p>
            <a:pPr>
              <a:lnSpc>
                <a:spcPct val="100000"/>
              </a:lnSpc>
            </a:pPr>
            <a:r>
              <a:rPr lang="de-DE" sz="1050" b="1" dirty="0"/>
              <a:t> Geriatrische </a:t>
            </a:r>
            <a:r>
              <a:rPr lang="de-DE" sz="1050" b="1" dirty="0" err="1"/>
              <a:t>Rehabilitation+Rehaklinik</a:t>
            </a:r>
            <a:endParaRPr lang="de-DE" sz="1050" b="1" dirty="0"/>
          </a:p>
          <a:p>
            <a:pPr>
              <a:lnSpc>
                <a:spcPct val="100000"/>
              </a:lnSpc>
            </a:pPr>
            <a:r>
              <a:rPr lang="de-DE" sz="1050" b="1" dirty="0"/>
              <a:t> Geriatrische </a:t>
            </a:r>
            <a:r>
              <a:rPr lang="de-DE" sz="1050" b="1" dirty="0" err="1"/>
              <a:t>Rehabilitation+Neurologische</a:t>
            </a:r>
            <a:r>
              <a:rPr lang="de-DE" sz="1050" b="1" dirty="0"/>
              <a:t> Rehabilitation   </a:t>
            </a:r>
          </a:p>
          <a:p>
            <a:pPr>
              <a:lnSpc>
                <a:spcPct val="100000"/>
              </a:lnSpc>
            </a:pPr>
            <a:r>
              <a:rPr lang="de-DE" sz="1050" b="1" dirty="0"/>
              <a:t> Rehaklinik</a:t>
            </a:r>
          </a:p>
          <a:p>
            <a:pPr>
              <a:lnSpc>
                <a:spcPct val="100000"/>
              </a:lnSpc>
            </a:pPr>
            <a:r>
              <a:rPr lang="de-DE" sz="1050" b="1" dirty="0"/>
              <a:t> Neurologische Rehabilitation</a:t>
            </a:r>
          </a:p>
          <a:p>
            <a:pPr>
              <a:lnSpc>
                <a:spcPct val="100000"/>
              </a:lnSpc>
            </a:pPr>
            <a:r>
              <a:rPr lang="de-DE" sz="1050" b="1" dirty="0"/>
              <a:t> Neurologische </a:t>
            </a:r>
            <a:r>
              <a:rPr lang="de-DE" sz="1050" b="1" dirty="0" err="1"/>
              <a:t>Rehabilitation+Rehaklinik</a:t>
            </a:r>
            <a:endParaRPr lang="de-DE" sz="1050" b="1" dirty="0"/>
          </a:p>
          <a:p>
            <a:pPr marL="0" indent="0">
              <a:lnSpc>
                <a:spcPct val="100000"/>
              </a:lnSpc>
              <a:buNone/>
            </a:pPr>
            <a:r>
              <a:rPr lang="de-DE" sz="1050" b="1" dirty="0"/>
              <a:t>Zur Ergänzung der Sicht wurden die Summen der vollstationären Fälle aller Fachabteilungen, die einem der obigen Suchmuster entsprechen, zur Sortierung herangezogen</a:t>
            </a:r>
          </a:p>
          <a:p>
            <a:pPr marL="0" indent="0">
              <a:lnSpc>
                <a:spcPct val="100000"/>
              </a:lnSpc>
              <a:buNone/>
            </a:pPr>
            <a:r>
              <a:rPr lang="de-DE" sz="1050" b="1" dirty="0"/>
              <a:t>Alle Ergebnisse sind im angehängten Excel File auf dem Sheet “﻿1_FA_Bez._und_vollstat._Fälle“ zu finden </a:t>
            </a:r>
          </a:p>
          <a:p>
            <a:pPr marL="0" indent="0">
              <a:lnSpc>
                <a:spcPct val="100000"/>
              </a:lnSpc>
              <a:buNone/>
            </a:pPr>
            <a:endParaRPr lang="de-DE" sz="1600" dirty="0"/>
          </a:p>
        </p:txBody>
      </p:sp>
      <p:sp>
        <p:nvSpPr>
          <p:cNvPr id="3" name="Title 2">
            <a:extLst>
              <a:ext uri="{FF2B5EF4-FFF2-40B4-BE49-F238E27FC236}">
                <a16:creationId xmlns:a16="http://schemas.microsoft.com/office/drawing/2014/main" id="{C259A1C4-DB9A-254C-9827-5D74364558FE}"/>
              </a:ext>
            </a:extLst>
          </p:cNvPr>
          <p:cNvSpPr>
            <a:spLocks noGrp="1"/>
          </p:cNvSpPr>
          <p:nvPr>
            <p:ph type="ctrTitle"/>
          </p:nvPr>
        </p:nvSpPr>
        <p:spPr/>
        <p:txBody>
          <a:bodyPr/>
          <a:lstStyle/>
          <a:p>
            <a:r>
              <a:rPr lang="de-DE" dirty="0"/>
              <a:t>1_ IDENTIFIZIERUNG ANHAND VON FACHABTEILUNGSBESCHREIBUNGEN</a:t>
            </a:r>
            <a:endParaRPr lang="de-DE" dirty="0">
              <a:solidFill>
                <a:srgbClr val="FF325D"/>
              </a:solidFill>
            </a:endParaRPr>
          </a:p>
        </p:txBody>
      </p:sp>
      <p:sp>
        <p:nvSpPr>
          <p:cNvPr id="4" name="Subtitle 3">
            <a:extLst>
              <a:ext uri="{FF2B5EF4-FFF2-40B4-BE49-F238E27FC236}">
                <a16:creationId xmlns:a16="http://schemas.microsoft.com/office/drawing/2014/main" id="{214DAC99-BF5D-584F-8C90-17229E008A76}"/>
              </a:ext>
            </a:extLst>
          </p:cNvPr>
          <p:cNvSpPr>
            <a:spLocks noGrp="1"/>
          </p:cNvSpPr>
          <p:nvPr>
            <p:ph type="subTitle" idx="13"/>
          </p:nvPr>
        </p:nvSpPr>
        <p:spPr/>
        <p:txBody>
          <a:bodyPr>
            <a:normAutofit fontScale="70000" lnSpcReduction="20000"/>
          </a:bodyPr>
          <a:lstStyle/>
          <a:p>
            <a:r>
              <a:rPr lang="de-DE" dirty="0"/>
              <a:t>Vollstationäre Fallzahlen in KHs mit Versorgungsangeboten zu  (Neurologischer/Geriatrischer) Rehabilitation</a:t>
            </a:r>
          </a:p>
        </p:txBody>
      </p:sp>
      <p:sp>
        <p:nvSpPr>
          <p:cNvPr id="5" name="Date Placeholder 4">
            <a:extLst>
              <a:ext uri="{FF2B5EF4-FFF2-40B4-BE49-F238E27FC236}">
                <a16:creationId xmlns:a16="http://schemas.microsoft.com/office/drawing/2014/main" id="{AF883381-7696-3F4D-B3C2-89911B1A39E5}"/>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6" name="Footer Placeholder 5">
            <a:extLst>
              <a:ext uri="{FF2B5EF4-FFF2-40B4-BE49-F238E27FC236}">
                <a16:creationId xmlns:a16="http://schemas.microsoft.com/office/drawing/2014/main" id="{12BA03DC-B1D8-3F40-8D4B-E7C18768F607}"/>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7" name="Slide Number Placeholder 6">
            <a:extLst>
              <a:ext uri="{FF2B5EF4-FFF2-40B4-BE49-F238E27FC236}">
                <a16:creationId xmlns:a16="http://schemas.microsoft.com/office/drawing/2014/main" id="{D2EC7292-1666-7045-BCF1-7145A4ABE27B}"/>
              </a:ext>
            </a:extLst>
          </p:cNvPr>
          <p:cNvSpPr>
            <a:spLocks noGrp="1"/>
          </p:cNvSpPr>
          <p:nvPr>
            <p:ph type="sldNum" sz="quarter" idx="12"/>
          </p:nvPr>
        </p:nvSpPr>
        <p:spPr/>
        <p:txBody>
          <a:bodyPr/>
          <a:lstStyle/>
          <a:p>
            <a:fld id="{228B9B32-4C81-AF47-9361-0A571CCDDFED}" type="slidenum">
              <a:rPr lang="de-DE" smtClean="0"/>
              <a:pPr/>
              <a:t>5</a:t>
            </a:fld>
            <a:endParaRPr lang="de-DE"/>
          </a:p>
        </p:txBody>
      </p:sp>
    </p:spTree>
    <p:extLst>
      <p:ext uri="{BB962C8B-B14F-4D97-AF65-F5344CB8AC3E}">
        <p14:creationId xmlns:p14="http://schemas.microsoft.com/office/powerpoint/2010/main" val="221833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5D9D94F-9A51-9C4A-B811-2A0E24710329}"/>
              </a:ext>
            </a:extLst>
          </p:cNvPr>
          <p:cNvPicPr>
            <a:picLocks noChangeAspect="1"/>
          </p:cNvPicPr>
          <p:nvPr/>
        </p:nvPicPr>
        <p:blipFill>
          <a:blip r:embed="rId2"/>
          <a:stretch>
            <a:fillRect/>
          </a:stretch>
        </p:blipFill>
        <p:spPr>
          <a:xfrm>
            <a:off x="570656" y="810344"/>
            <a:ext cx="11285984" cy="5642992"/>
          </a:xfrm>
          <a:prstGeom prst="rect">
            <a:avLst/>
          </a:prstGeom>
        </p:spPr>
      </p:pic>
      <p:sp>
        <p:nvSpPr>
          <p:cNvPr id="2" name="Title 1">
            <a:extLst>
              <a:ext uri="{FF2B5EF4-FFF2-40B4-BE49-F238E27FC236}">
                <a16:creationId xmlns:a16="http://schemas.microsoft.com/office/drawing/2014/main" id="{8E063198-BD9C-AB4A-8FAD-4BDF232C1291}"/>
              </a:ext>
            </a:extLst>
          </p:cNvPr>
          <p:cNvSpPr>
            <a:spLocks noGrp="1"/>
          </p:cNvSpPr>
          <p:nvPr>
            <p:ph type="ctrTitle"/>
          </p:nvPr>
        </p:nvSpPr>
        <p:spPr/>
        <p:txBody>
          <a:bodyPr/>
          <a:lstStyle/>
          <a:p>
            <a:r>
              <a:rPr lang="de-DE" dirty="0"/>
              <a:t>1_ IDENTIFIZIERUNG ANHAND VON FACHABTEILUNGSBESCHREIBUNGEN</a:t>
            </a:r>
          </a:p>
        </p:txBody>
      </p:sp>
      <p:sp>
        <p:nvSpPr>
          <p:cNvPr id="3" name="Subtitle 2">
            <a:extLst>
              <a:ext uri="{FF2B5EF4-FFF2-40B4-BE49-F238E27FC236}">
                <a16:creationId xmlns:a16="http://schemas.microsoft.com/office/drawing/2014/main" id="{E9BA898B-276D-DF47-BD89-5F41EBECCEDE}"/>
              </a:ext>
            </a:extLst>
          </p:cNvPr>
          <p:cNvSpPr>
            <a:spLocks noGrp="1"/>
          </p:cNvSpPr>
          <p:nvPr>
            <p:ph type="subTitle" idx="1"/>
          </p:nvPr>
        </p:nvSpPr>
        <p:spPr/>
        <p:txBody>
          <a:bodyPr>
            <a:normAutofit fontScale="85000" lnSpcReduction="10000"/>
          </a:bodyPr>
          <a:lstStyle/>
          <a:p>
            <a:r>
              <a:rPr lang="de-DE" dirty="0"/>
              <a:t>Top 50 Accounts mit Versorgungsangeboten zu (Neurologischer/Geriatrischer) Rehabilitation</a:t>
            </a:r>
          </a:p>
        </p:txBody>
      </p:sp>
      <p:sp>
        <p:nvSpPr>
          <p:cNvPr id="4" name="Date Placeholder 3">
            <a:extLst>
              <a:ext uri="{FF2B5EF4-FFF2-40B4-BE49-F238E27FC236}">
                <a16:creationId xmlns:a16="http://schemas.microsoft.com/office/drawing/2014/main" id="{80221745-4D4E-C849-989C-6F4BF6F60513}"/>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5" name="Footer Placeholder 4">
            <a:extLst>
              <a:ext uri="{FF2B5EF4-FFF2-40B4-BE49-F238E27FC236}">
                <a16:creationId xmlns:a16="http://schemas.microsoft.com/office/drawing/2014/main" id="{E97F916C-46DE-D240-BF97-44788536B143}"/>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6" name="Slide Number Placeholder 5">
            <a:extLst>
              <a:ext uri="{FF2B5EF4-FFF2-40B4-BE49-F238E27FC236}">
                <a16:creationId xmlns:a16="http://schemas.microsoft.com/office/drawing/2014/main" id="{451A2935-4983-2B4E-A96E-256497856F65}"/>
              </a:ext>
            </a:extLst>
          </p:cNvPr>
          <p:cNvSpPr>
            <a:spLocks noGrp="1"/>
          </p:cNvSpPr>
          <p:nvPr>
            <p:ph type="sldNum" sz="quarter" idx="12"/>
          </p:nvPr>
        </p:nvSpPr>
        <p:spPr/>
        <p:txBody>
          <a:bodyPr/>
          <a:lstStyle/>
          <a:p>
            <a:fld id="{228B9B32-4C81-AF47-9361-0A571CCDDFED}" type="slidenum">
              <a:rPr lang="de-DE" smtClean="0"/>
              <a:pPr/>
              <a:t>6</a:t>
            </a:fld>
            <a:endParaRPr lang="de-DE"/>
          </a:p>
        </p:txBody>
      </p:sp>
      <p:pic>
        <p:nvPicPr>
          <p:cNvPr id="9" name="Graphic 8">
            <a:extLst>
              <a:ext uri="{FF2B5EF4-FFF2-40B4-BE49-F238E27FC236}">
                <a16:creationId xmlns:a16="http://schemas.microsoft.com/office/drawing/2014/main" id="{77E579E6-1459-E64A-BC0C-02E46980D3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2848" y="5876925"/>
            <a:ext cx="876300" cy="838200"/>
          </a:xfrm>
          <a:prstGeom prst="rect">
            <a:avLst/>
          </a:prstGeom>
        </p:spPr>
      </p:pic>
    </p:spTree>
    <p:extLst>
      <p:ext uri="{BB962C8B-B14F-4D97-AF65-F5344CB8AC3E}">
        <p14:creationId xmlns:p14="http://schemas.microsoft.com/office/powerpoint/2010/main" val="2472041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3E779-1EC1-714A-AEF3-16D69A4B5C98}"/>
              </a:ext>
            </a:extLst>
          </p:cNvPr>
          <p:cNvSpPr>
            <a:spLocks noGrp="1"/>
          </p:cNvSpPr>
          <p:nvPr>
            <p:ph idx="1"/>
          </p:nvPr>
        </p:nvSpPr>
        <p:spPr>
          <a:xfrm>
            <a:off x="572050" y="1124744"/>
            <a:ext cx="10961137" cy="5112567"/>
          </a:xfrm>
        </p:spPr>
        <p:txBody>
          <a:bodyPr>
            <a:normAutofit/>
          </a:bodyPr>
          <a:lstStyle/>
          <a:p>
            <a:pPr marL="0" indent="0">
              <a:lnSpc>
                <a:spcPct val="120000"/>
              </a:lnSpc>
              <a:buNone/>
            </a:pPr>
            <a:r>
              <a:rPr lang="de-DE" sz="1600" dirty="0"/>
              <a:t>Bei einer Gesamtmenge von ~1900 Krankenhäusern in Deutschland ergibt die Suche nach den Mustern nach den </a:t>
            </a:r>
            <a:r>
              <a:rPr lang="de-DE" sz="1600" dirty="0" err="1"/>
              <a:t>Apontis</a:t>
            </a:r>
            <a:r>
              <a:rPr lang="de-DE" sz="1600" dirty="0"/>
              <a:t> </a:t>
            </a:r>
            <a:r>
              <a:rPr lang="de-DE" sz="1600" dirty="0" err="1"/>
              <a:t>Iltria</a:t>
            </a:r>
            <a:r>
              <a:rPr lang="de-DE" sz="1600" dirty="0"/>
              <a:t> Codes </a:t>
            </a:r>
            <a:r>
              <a:rPr lang="en-DE"/>
              <a:t>I21.1, I21.2, I21.3, I21.4, I21.9, I22, I22.0, I22.1, I22.8, I22.9, I23, I23.0, I23.1, I23.2, I23.3, I23.4, I23.5, I23.6, I23.8, I24.0, I24.1, I63, I63.0, I63.1, I63.2, I63.3, I63.4, I63.5, I63.6, I63.8, I63.9, I64, I69, I69.0, I69.1, I69.2, I69.3, I69.4</a:t>
            </a:r>
            <a:r>
              <a:rPr lang="en-DE" sz="1050"/>
              <a:t> </a:t>
            </a:r>
            <a:endParaRPr lang="en-US" sz="1050" dirty="0"/>
          </a:p>
          <a:p>
            <a:pPr marL="0" indent="0">
              <a:lnSpc>
                <a:spcPct val="120000"/>
              </a:lnSpc>
              <a:buNone/>
            </a:pPr>
            <a:r>
              <a:rPr lang="en-US" sz="1050" b="1" dirty="0"/>
              <a:t>1239 </a:t>
            </a:r>
            <a:r>
              <a:rPr lang="en-US" sz="1050" b="1" dirty="0" err="1"/>
              <a:t>Treffer</a:t>
            </a:r>
            <a:r>
              <a:rPr lang="en-US" sz="1050" b="1" dirty="0"/>
              <a:t> </a:t>
            </a:r>
            <a:r>
              <a:rPr lang="en-US" sz="1050" b="1" dirty="0" err="1"/>
              <a:t>für</a:t>
            </a:r>
            <a:r>
              <a:rPr lang="en-US" sz="1050" b="1" dirty="0"/>
              <a:t> </a:t>
            </a:r>
            <a:r>
              <a:rPr lang="en-US" sz="1050" b="1" dirty="0" err="1"/>
              <a:t>Krankenhäuser</a:t>
            </a:r>
            <a:r>
              <a:rPr lang="en-US" sz="1050" b="1" dirty="0"/>
              <a:t> </a:t>
            </a:r>
            <a:r>
              <a:rPr lang="en-US" sz="1050" b="1" dirty="0" err="1"/>
              <a:t>mit</a:t>
            </a:r>
            <a:r>
              <a:rPr lang="en-US" sz="1050" b="1" dirty="0"/>
              <a:t> </a:t>
            </a:r>
            <a:r>
              <a:rPr lang="en-US" sz="1050" b="1" dirty="0" err="1"/>
              <a:t>entsprechenden</a:t>
            </a:r>
            <a:r>
              <a:rPr lang="en-US" sz="1050" b="1" dirty="0"/>
              <a:t> </a:t>
            </a:r>
            <a:r>
              <a:rPr lang="en-US" sz="1050" b="1" dirty="0" err="1"/>
              <a:t>Befunden</a:t>
            </a:r>
            <a:r>
              <a:rPr lang="en-US" sz="1050" b="1" dirty="0"/>
              <a:t>. Die </a:t>
            </a:r>
            <a:r>
              <a:rPr lang="en-US" sz="1050" b="1" dirty="0" err="1"/>
              <a:t>Rohdaten</a:t>
            </a:r>
            <a:r>
              <a:rPr lang="en-US" sz="1050" b="1" dirty="0"/>
              <a:t> </a:t>
            </a:r>
            <a:r>
              <a:rPr lang="en-US" sz="1050" b="1" dirty="0" err="1"/>
              <a:t>sind</a:t>
            </a:r>
            <a:r>
              <a:rPr lang="en-US" sz="1050" b="1" dirty="0"/>
              <a:t> </a:t>
            </a:r>
            <a:r>
              <a:rPr lang="de-DE" sz="1050" b="1" dirty="0"/>
              <a:t>im angehängten Excel File auf dem Sheet “﻿1_FA_Bez._und_vollstat._Fälle“ zu finden </a:t>
            </a:r>
          </a:p>
          <a:p>
            <a:pPr marL="0" indent="0">
              <a:lnSpc>
                <a:spcPct val="120000"/>
              </a:lnSpc>
              <a:buNone/>
            </a:pPr>
            <a:endParaRPr lang="en-US" sz="1050" b="1" dirty="0"/>
          </a:p>
          <a:p>
            <a:pPr marL="0" indent="0">
              <a:lnSpc>
                <a:spcPct val="120000"/>
              </a:lnSpc>
              <a:buNone/>
            </a:pPr>
            <a:endParaRPr lang="en-US" sz="1050" b="1" dirty="0"/>
          </a:p>
          <a:p>
            <a:pPr marL="0" indent="0">
              <a:lnSpc>
                <a:spcPct val="120000"/>
              </a:lnSpc>
              <a:buNone/>
            </a:pPr>
            <a:endParaRPr lang="en-US" sz="1050" b="1" dirty="0"/>
          </a:p>
          <a:p>
            <a:pPr marL="0" indent="0">
              <a:lnSpc>
                <a:spcPct val="120000"/>
              </a:lnSpc>
              <a:buNone/>
            </a:pPr>
            <a:endParaRPr lang="de-DE" sz="1050" b="1" dirty="0"/>
          </a:p>
          <a:p>
            <a:pPr marL="0" indent="0">
              <a:lnSpc>
                <a:spcPct val="100000"/>
              </a:lnSpc>
              <a:buNone/>
            </a:pPr>
            <a:r>
              <a:rPr lang="de-DE" sz="1050" b="1" dirty="0"/>
              <a:t>Zur Ergänzung der Sicht wurden die Summen der vollstationären Fälle aller Fachabteilungen, die einem der obigen Suchmuster entsprechen, zur Sortierung herangezogen</a:t>
            </a:r>
          </a:p>
          <a:p>
            <a:pPr marL="0" indent="0">
              <a:lnSpc>
                <a:spcPct val="100000"/>
              </a:lnSpc>
              <a:buNone/>
            </a:pPr>
            <a:r>
              <a:rPr lang="de-DE" sz="1050" b="1" dirty="0"/>
              <a:t>Alle Ergebnisse sind</a:t>
            </a:r>
            <a:endParaRPr lang="de-DE" sz="1600" dirty="0"/>
          </a:p>
        </p:txBody>
      </p:sp>
      <p:sp>
        <p:nvSpPr>
          <p:cNvPr id="3" name="Title 2">
            <a:extLst>
              <a:ext uri="{FF2B5EF4-FFF2-40B4-BE49-F238E27FC236}">
                <a16:creationId xmlns:a16="http://schemas.microsoft.com/office/drawing/2014/main" id="{C259A1C4-DB9A-254C-9827-5D74364558FE}"/>
              </a:ext>
            </a:extLst>
          </p:cNvPr>
          <p:cNvSpPr>
            <a:spLocks noGrp="1"/>
          </p:cNvSpPr>
          <p:nvPr>
            <p:ph type="ctrTitle"/>
          </p:nvPr>
        </p:nvSpPr>
        <p:spPr/>
        <p:txBody>
          <a:bodyPr/>
          <a:lstStyle/>
          <a:p>
            <a:r>
              <a:rPr lang="de-DE" dirty="0"/>
              <a:t>1_ IDENTIFIZIERUNG ANHAND VON FACHABTEILUNGSBESCHREIBUNGEN</a:t>
            </a:r>
            <a:endParaRPr lang="de-DE" dirty="0">
              <a:solidFill>
                <a:srgbClr val="FF325D"/>
              </a:solidFill>
            </a:endParaRPr>
          </a:p>
        </p:txBody>
      </p:sp>
      <p:sp>
        <p:nvSpPr>
          <p:cNvPr id="4" name="Subtitle 3">
            <a:extLst>
              <a:ext uri="{FF2B5EF4-FFF2-40B4-BE49-F238E27FC236}">
                <a16:creationId xmlns:a16="http://schemas.microsoft.com/office/drawing/2014/main" id="{214DAC99-BF5D-584F-8C90-17229E008A76}"/>
              </a:ext>
            </a:extLst>
          </p:cNvPr>
          <p:cNvSpPr>
            <a:spLocks noGrp="1"/>
          </p:cNvSpPr>
          <p:nvPr>
            <p:ph type="subTitle" idx="13"/>
          </p:nvPr>
        </p:nvSpPr>
        <p:spPr/>
        <p:txBody>
          <a:bodyPr>
            <a:normAutofit fontScale="70000" lnSpcReduction="20000"/>
          </a:bodyPr>
          <a:lstStyle/>
          <a:p>
            <a:r>
              <a:rPr lang="de-DE" dirty="0"/>
              <a:t>Vollstationäre Fallzahlen in KHs mit Versorgungsangeboten zu  (Neurologischer/Geriatrischer) Rehabilitation</a:t>
            </a:r>
          </a:p>
        </p:txBody>
      </p:sp>
      <p:sp>
        <p:nvSpPr>
          <p:cNvPr id="5" name="Date Placeholder 4">
            <a:extLst>
              <a:ext uri="{FF2B5EF4-FFF2-40B4-BE49-F238E27FC236}">
                <a16:creationId xmlns:a16="http://schemas.microsoft.com/office/drawing/2014/main" id="{AF883381-7696-3F4D-B3C2-89911B1A39E5}"/>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6" name="Footer Placeholder 5">
            <a:extLst>
              <a:ext uri="{FF2B5EF4-FFF2-40B4-BE49-F238E27FC236}">
                <a16:creationId xmlns:a16="http://schemas.microsoft.com/office/drawing/2014/main" id="{12BA03DC-B1D8-3F40-8D4B-E7C18768F607}"/>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7" name="Slide Number Placeholder 6">
            <a:extLst>
              <a:ext uri="{FF2B5EF4-FFF2-40B4-BE49-F238E27FC236}">
                <a16:creationId xmlns:a16="http://schemas.microsoft.com/office/drawing/2014/main" id="{D2EC7292-1666-7045-BCF1-7145A4ABE27B}"/>
              </a:ext>
            </a:extLst>
          </p:cNvPr>
          <p:cNvSpPr>
            <a:spLocks noGrp="1"/>
          </p:cNvSpPr>
          <p:nvPr>
            <p:ph type="sldNum" sz="quarter" idx="12"/>
          </p:nvPr>
        </p:nvSpPr>
        <p:spPr/>
        <p:txBody>
          <a:bodyPr/>
          <a:lstStyle/>
          <a:p>
            <a:fld id="{228B9B32-4C81-AF47-9361-0A571CCDDFED}" type="slidenum">
              <a:rPr lang="de-DE" smtClean="0"/>
              <a:pPr/>
              <a:t>7</a:t>
            </a:fld>
            <a:endParaRPr lang="de-DE"/>
          </a:p>
        </p:txBody>
      </p:sp>
    </p:spTree>
    <p:extLst>
      <p:ext uri="{BB962C8B-B14F-4D97-AF65-F5344CB8AC3E}">
        <p14:creationId xmlns:p14="http://schemas.microsoft.com/office/powerpoint/2010/main" val="3207891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797CB8A-66A9-B247-8F1B-CBEB746358B9}"/>
              </a:ext>
            </a:extLst>
          </p:cNvPr>
          <p:cNvPicPr>
            <a:picLocks noChangeAspect="1"/>
          </p:cNvPicPr>
          <p:nvPr/>
        </p:nvPicPr>
        <p:blipFill>
          <a:blip r:embed="rId2"/>
          <a:stretch>
            <a:fillRect/>
          </a:stretch>
        </p:blipFill>
        <p:spPr>
          <a:xfrm>
            <a:off x="551384" y="863715"/>
            <a:ext cx="9937104" cy="5589621"/>
          </a:xfrm>
          <a:prstGeom prst="rect">
            <a:avLst/>
          </a:prstGeom>
        </p:spPr>
      </p:pic>
      <p:sp>
        <p:nvSpPr>
          <p:cNvPr id="2" name="Title 1">
            <a:extLst>
              <a:ext uri="{FF2B5EF4-FFF2-40B4-BE49-F238E27FC236}">
                <a16:creationId xmlns:a16="http://schemas.microsoft.com/office/drawing/2014/main" id="{8E063198-BD9C-AB4A-8FAD-4BDF232C1291}"/>
              </a:ext>
            </a:extLst>
          </p:cNvPr>
          <p:cNvSpPr>
            <a:spLocks noGrp="1"/>
          </p:cNvSpPr>
          <p:nvPr>
            <p:ph type="ctrTitle"/>
          </p:nvPr>
        </p:nvSpPr>
        <p:spPr/>
        <p:txBody>
          <a:bodyPr/>
          <a:lstStyle/>
          <a:p>
            <a:r>
              <a:rPr lang="de-DE" dirty="0"/>
              <a:t>1_ IDENTIFIZIERUNG ANHAND VON FACHABTEILUNGSBESCHREIBUNGEN</a:t>
            </a:r>
          </a:p>
        </p:txBody>
      </p:sp>
      <p:sp>
        <p:nvSpPr>
          <p:cNvPr id="3" name="Subtitle 2">
            <a:extLst>
              <a:ext uri="{FF2B5EF4-FFF2-40B4-BE49-F238E27FC236}">
                <a16:creationId xmlns:a16="http://schemas.microsoft.com/office/drawing/2014/main" id="{E9BA898B-276D-DF47-BD89-5F41EBECCEDE}"/>
              </a:ext>
            </a:extLst>
          </p:cNvPr>
          <p:cNvSpPr>
            <a:spLocks noGrp="1"/>
          </p:cNvSpPr>
          <p:nvPr>
            <p:ph type="subTitle" idx="1"/>
          </p:nvPr>
        </p:nvSpPr>
        <p:spPr/>
        <p:txBody>
          <a:bodyPr>
            <a:normAutofit fontScale="85000" lnSpcReduction="10000"/>
          </a:bodyPr>
          <a:lstStyle/>
          <a:p>
            <a:r>
              <a:rPr lang="de-DE" dirty="0"/>
              <a:t>Top 50 Accounts mit Versorgungsangeboten zu (Neurologischer/Geriatrischer) Rehabilitation</a:t>
            </a:r>
          </a:p>
        </p:txBody>
      </p:sp>
      <p:sp>
        <p:nvSpPr>
          <p:cNvPr id="4" name="Date Placeholder 3">
            <a:extLst>
              <a:ext uri="{FF2B5EF4-FFF2-40B4-BE49-F238E27FC236}">
                <a16:creationId xmlns:a16="http://schemas.microsoft.com/office/drawing/2014/main" id="{80221745-4D4E-C849-989C-6F4BF6F60513}"/>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5" name="Footer Placeholder 4">
            <a:extLst>
              <a:ext uri="{FF2B5EF4-FFF2-40B4-BE49-F238E27FC236}">
                <a16:creationId xmlns:a16="http://schemas.microsoft.com/office/drawing/2014/main" id="{E97F916C-46DE-D240-BF97-44788536B143}"/>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6" name="Slide Number Placeholder 5">
            <a:extLst>
              <a:ext uri="{FF2B5EF4-FFF2-40B4-BE49-F238E27FC236}">
                <a16:creationId xmlns:a16="http://schemas.microsoft.com/office/drawing/2014/main" id="{451A2935-4983-2B4E-A96E-256497856F65}"/>
              </a:ext>
            </a:extLst>
          </p:cNvPr>
          <p:cNvSpPr>
            <a:spLocks noGrp="1"/>
          </p:cNvSpPr>
          <p:nvPr>
            <p:ph type="sldNum" sz="quarter" idx="12"/>
          </p:nvPr>
        </p:nvSpPr>
        <p:spPr/>
        <p:txBody>
          <a:bodyPr/>
          <a:lstStyle/>
          <a:p>
            <a:fld id="{228B9B32-4C81-AF47-9361-0A571CCDDFED}" type="slidenum">
              <a:rPr lang="de-DE" smtClean="0"/>
              <a:pPr/>
              <a:t>8</a:t>
            </a:fld>
            <a:endParaRPr lang="de-DE"/>
          </a:p>
        </p:txBody>
      </p:sp>
      <p:pic>
        <p:nvPicPr>
          <p:cNvPr id="9" name="Graphic 8">
            <a:extLst>
              <a:ext uri="{FF2B5EF4-FFF2-40B4-BE49-F238E27FC236}">
                <a16:creationId xmlns:a16="http://schemas.microsoft.com/office/drawing/2014/main" id="{77E579E6-1459-E64A-BC0C-02E46980D3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2848" y="5876925"/>
            <a:ext cx="876300" cy="838200"/>
          </a:xfrm>
          <a:prstGeom prst="rect">
            <a:avLst/>
          </a:prstGeom>
        </p:spPr>
      </p:pic>
    </p:spTree>
    <p:extLst>
      <p:ext uri="{BB962C8B-B14F-4D97-AF65-F5344CB8AC3E}">
        <p14:creationId xmlns:p14="http://schemas.microsoft.com/office/powerpoint/2010/main" val="74931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3E779-1EC1-714A-AEF3-16D69A4B5C98}"/>
              </a:ext>
            </a:extLst>
          </p:cNvPr>
          <p:cNvSpPr>
            <a:spLocks noGrp="1"/>
          </p:cNvSpPr>
          <p:nvPr>
            <p:ph idx="1"/>
          </p:nvPr>
        </p:nvSpPr>
        <p:spPr>
          <a:xfrm>
            <a:off x="572050" y="1124744"/>
            <a:ext cx="10961137" cy="5112567"/>
          </a:xfrm>
        </p:spPr>
        <p:txBody>
          <a:bodyPr>
            <a:normAutofit lnSpcReduction="10000"/>
          </a:bodyPr>
          <a:lstStyle/>
          <a:p>
            <a:pPr marL="0" indent="0">
              <a:lnSpc>
                <a:spcPct val="120000"/>
              </a:lnSpc>
              <a:buNone/>
            </a:pPr>
            <a:r>
              <a:rPr lang="de-DE" sz="1600" dirty="0"/>
              <a:t>Bei einer Gesamtmenge von ~1900 Krankenhäusern in Deutschland ergibt die Suche nach </a:t>
            </a:r>
            <a:endParaRPr lang="en-US" sz="1600" dirty="0"/>
          </a:p>
          <a:p>
            <a:pPr marL="0" indent="0">
              <a:lnSpc>
                <a:spcPct val="120000"/>
              </a:lnSpc>
              <a:buNone/>
            </a:pPr>
            <a:endParaRPr lang="de-DE" sz="1600" b="1" dirty="0"/>
          </a:p>
          <a:p>
            <a:pPr>
              <a:lnSpc>
                <a:spcPct val="120000"/>
              </a:lnSpc>
              <a:buFontTx/>
              <a:buChar char="-"/>
            </a:pPr>
            <a:r>
              <a:rPr lang="de-DE" sz="1600" b="1" dirty="0"/>
              <a:t>Fall 1: Keine ICD-10 Fälle aber vollstationäre Fallzahlen in Abteilungen mit (Neurologischer/Geriatrischer) Rehabilitation: Die Erfassung der ICD-10 Fälle in den Qualitätsberichten könnte besonders ungenau sein und das KH hat eigentlich ein sehr hohes Potenzial</a:t>
            </a:r>
          </a:p>
          <a:p>
            <a:pPr>
              <a:lnSpc>
                <a:spcPct val="120000"/>
              </a:lnSpc>
              <a:buFontTx/>
              <a:buChar char="-"/>
            </a:pPr>
            <a:r>
              <a:rPr lang="de-DE" sz="1600" b="1" dirty="0"/>
              <a:t>Fall 2:  Keine vollstationäre Fallzahlen in Abteilungen mit (Neurologischer/Geriatrischer) Rehabilitation aber ICD-10 Fälle aber : Es kommt zwar zu Diagnosen, sie fallen aber auf anderen Fachabteilungen an</a:t>
            </a:r>
          </a:p>
          <a:p>
            <a:pPr>
              <a:lnSpc>
                <a:spcPct val="120000"/>
              </a:lnSpc>
              <a:buFontTx/>
              <a:buChar char="-"/>
            </a:pPr>
            <a:endParaRPr lang="de-DE" sz="1600" b="1" dirty="0"/>
          </a:p>
          <a:p>
            <a:pPr>
              <a:lnSpc>
                <a:spcPct val="120000"/>
              </a:lnSpc>
              <a:buFontTx/>
              <a:buChar char="-"/>
            </a:pPr>
            <a:endParaRPr lang="en-US" sz="650" b="1" dirty="0"/>
          </a:p>
          <a:p>
            <a:pPr marL="0" indent="0">
              <a:lnSpc>
                <a:spcPct val="120000"/>
              </a:lnSpc>
              <a:buNone/>
            </a:pPr>
            <a:r>
              <a:rPr lang="de-DE" sz="1050" b="1" dirty="0"/>
              <a:t>Fall 1: Keine ICD-10 Fälle aber vollstationäre Fallzahlen in Abteilungen mit (Neurologischer/Geriatrischer) Rehabilitation: Es kommt zwar zu Diagnosen, sie fallen aber auf anderen Fachabteilungen an</a:t>
            </a:r>
          </a:p>
          <a:p>
            <a:pPr marL="0" indent="0">
              <a:lnSpc>
                <a:spcPct val="120000"/>
              </a:lnSpc>
              <a:buNone/>
            </a:pPr>
            <a:endParaRPr lang="en-US" sz="1050" b="1" dirty="0"/>
          </a:p>
          <a:p>
            <a:pPr marL="0" indent="0">
              <a:lnSpc>
                <a:spcPct val="120000"/>
              </a:lnSpc>
              <a:buNone/>
            </a:pPr>
            <a:endParaRPr lang="en-US" sz="1050" b="1" dirty="0"/>
          </a:p>
          <a:p>
            <a:pPr marL="0" indent="0">
              <a:lnSpc>
                <a:spcPct val="120000"/>
              </a:lnSpc>
              <a:buNone/>
            </a:pPr>
            <a:endParaRPr lang="de-DE" sz="1050" b="1" dirty="0"/>
          </a:p>
          <a:p>
            <a:pPr marL="0" indent="0">
              <a:lnSpc>
                <a:spcPct val="100000"/>
              </a:lnSpc>
              <a:buNone/>
            </a:pPr>
            <a:r>
              <a:rPr lang="de-DE" sz="1050" b="1" dirty="0"/>
              <a:t>Zur Ergänzung der Sicht wurden die Summen der vollstationären Fälle aller Fachabteilungen, die einem der obigen Suchmuster entsprechen, zur Sortierung herangezogen</a:t>
            </a:r>
          </a:p>
          <a:p>
            <a:pPr marL="0" indent="0">
              <a:lnSpc>
                <a:spcPct val="100000"/>
              </a:lnSpc>
              <a:buNone/>
            </a:pPr>
            <a:r>
              <a:rPr lang="de-DE" sz="1050" b="1" dirty="0"/>
              <a:t>Alle Ergebnisse sind</a:t>
            </a:r>
            <a:endParaRPr lang="de-DE" sz="1600" dirty="0"/>
          </a:p>
        </p:txBody>
      </p:sp>
      <p:sp>
        <p:nvSpPr>
          <p:cNvPr id="3" name="Title 2">
            <a:extLst>
              <a:ext uri="{FF2B5EF4-FFF2-40B4-BE49-F238E27FC236}">
                <a16:creationId xmlns:a16="http://schemas.microsoft.com/office/drawing/2014/main" id="{C259A1C4-DB9A-254C-9827-5D74364558FE}"/>
              </a:ext>
            </a:extLst>
          </p:cNvPr>
          <p:cNvSpPr>
            <a:spLocks noGrp="1"/>
          </p:cNvSpPr>
          <p:nvPr>
            <p:ph type="ctrTitle"/>
          </p:nvPr>
        </p:nvSpPr>
        <p:spPr/>
        <p:txBody>
          <a:bodyPr/>
          <a:lstStyle/>
          <a:p>
            <a:r>
              <a:rPr lang="de-DE" dirty="0"/>
              <a:t>1_ IDENTIFIZIERUNG ANHAND VON FACHABTEILUNGSBESCHREIBUNGEN</a:t>
            </a:r>
            <a:endParaRPr lang="de-DE" dirty="0">
              <a:solidFill>
                <a:srgbClr val="FF325D"/>
              </a:solidFill>
            </a:endParaRPr>
          </a:p>
        </p:txBody>
      </p:sp>
      <p:sp>
        <p:nvSpPr>
          <p:cNvPr id="4" name="Subtitle 3">
            <a:extLst>
              <a:ext uri="{FF2B5EF4-FFF2-40B4-BE49-F238E27FC236}">
                <a16:creationId xmlns:a16="http://schemas.microsoft.com/office/drawing/2014/main" id="{214DAC99-BF5D-584F-8C90-17229E008A76}"/>
              </a:ext>
            </a:extLst>
          </p:cNvPr>
          <p:cNvSpPr>
            <a:spLocks noGrp="1"/>
          </p:cNvSpPr>
          <p:nvPr>
            <p:ph type="subTitle" idx="13"/>
          </p:nvPr>
        </p:nvSpPr>
        <p:spPr/>
        <p:txBody>
          <a:bodyPr>
            <a:normAutofit fontScale="70000" lnSpcReduction="20000"/>
          </a:bodyPr>
          <a:lstStyle/>
          <a:p>
            <a:r>
              <a:rPr lang="de-DE" dirty="0"/>
              <a:t>Vollstationäre Fallzahlen in KHs mit Versorgungsangeboten zu  (Neurologischer/Geriatrischer) Rehabilitation</a:t>
            </a:r>
          </a:p>
        </p:txBody>
      </p:sp>
      <p:sp>
        <p:nvSpPr>
          <p:cNvPr id="5" name="Date Placeholder 4">
            <a:extLst>
              <a:ext uri="{FF2B5EF4-FFF2-40B4-BE49-F238E27FC236}">
                <a16:creationId xmlns:a16="http://schemas.microsoft.com/office/drawing/2014/main" id="{AF883381-7696-3F4D-B3C2-89911B1A39E5}"/>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6" name="Footer Placeholder 5">
            <a:extLst>
              <a:ext uri="{FF2B5EF4-FFF2-40B4-BE49-F238E27FC236}">
                <a16:creationId xmlns:a16="http://schemas.microsoft.com/office/drawing/2014/main" id="{12BA03DC-B1D8-3F40-8D4B-E7C18768F607}"/>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7" name="Slide Number Placeholder 6">
            <a:extLst>
              <a:ext uri="{FF2B5EF4-FFF2-40B4-BE49-F238E27FC236}">
                <a16:creationId xmlns:a16="http://schemas.microsoft.com/office/drawing/2014/main" id="{D2EC7292-1666-7045-BCF1-7145A4ABE27B}"/>
              </a:ext>
            </a:extLst>
          </p:cNvPr>
          <p:cNvSpPr>
            <a:spLocks noGrp="1"/>
          </p:cNvSpPr>
          <p:nvPr>
            <p:ph type="sldNum" sz="quarter" idx="12"/>
          </p:nvPr>
        </p:nvSpPr>
        <p:spPr/>
        <p:txBody>
          <a:bodyPr/>
          <a:lstStyle/>
          <a:p>
            <a:fld id="{228B9B32-4C81-AF47-9361-0A571CCDDFED}" type="slidenum">
              <a:rPr lang="de-DE" smtClean="0"/>
              <a:pPr/>
              <a:t>9</a:t>
            </a:fld>
            <a:endParaRPr lang="de-DE"/>
          </a:p>
        </p:txBody>
      </p:sp>
    </p:spTree>
    <p:extLst>
      <p:ext uri="{BB962C8B-B14F-4D97-AF65-F5344CB8AC3E}">
        <p14:creationId xmlns:p14="http://schemas.microsoft.com/office/powerpoint/2010/main" val="1873425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3198-BD9C-AB4A-8FAD-4BDF232C1291}"/>
              </a:ext>
            </a:extLst>
          </p:cNvPr>
          <p:cNvSpPr>
            <a:spLocks noGrp="1"/>
          </p:cNvSpPr>
          <p:nvPr>
            <p:ph type="ctrTitle"/>
          </p:nvPr>
        </p:nvSpPr>
        <p:spPr/>
        <p:txBody>
          <a:bodyPr/>
          <a:lstStyle/>
          <a:p>
            <a:r>
              <a:rPr lang="de-DE" dirty="0"/>
              <a:t>1_ IDENTIFIZIERUNG ANHAND VON FACHABTEILUNGSBESCHREIBUNGEN</a:t>
            </a:r>
          </a:p>
        </p:txBody>
      </p:sp>
      <p:sp>
        <p:nvSpPr>
          <p:cNvPr id="3" name="Subtitle 2">
            <a:extLst>
              <a:ext uri="{FF2B5EF4-FFF2-40B4-BE49-F238E27FC236}">
                <a16:creationId xmlns:a16="http://schemas.microsoft.com/office/drawing/2014/main" id="{E9BA898B-276D-DF47-BD89-5F41EBECCEDE}"/>
              </a:ext>
            </a:extLst>
          </p:cNvPr>
          <p:cNvSpPr>
            <a:spLocks noGrp="1"/>
          </p:cNvSpPr>
          <p:nvPr>
            <p:ph type="subTitle" idx="1"/>
          </p:nvPr>
        </p:nvSpPr>
        <p:spPr/>
        <p:txBody>
          <a:bodyPr>
            <a:normAutofit fontScale="85000" lnSpcReduction="10000"/>
          </a:bodyPr>
          <a:lstStyle/>
          <a:p>
            <a:r>
              <a:rPr lang="de-DE" dirty="0"/>
              <a:t>Top 50 Accounts mit Versorgungsangeboten zu (Neurologischer/Geriatrischer) Rehabilitation</a:t>
            </a:r>
          </a:p>
        </p:txBody>
      </p:sp>
      <p:sp>
        <p:nvSpPr>
          <p:cNvPr id="4" name="Date Placeholder 3">
            <a:extLst>
              <a:ext uri="{FF2B5EF4-FFF2-40B4-BE49-F238E27FC236}">
                <a16:creationId xmlns:a16="http://schemas.microsoft.com/office/drawing/2014/main" id="{80221745-4D4E-C849-989C-6F4BF6F60513}"/>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5" name="Footer Placeholder 4">
            <a:extLst>
              <a:ext uri="{FF2B5EF4-FFF2-40B4-BE49-F238E27FC236}">
                <a16:creationId xmlns:a16="http://schemas.microsoft.com/office/drawing/2014/main" id="{E97F916C-46DE-D240-BF97-44788536B143}"/>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6" name="Slide Number Placeholder 5">
            <a:extLst>
              <a:ext uri="{FF2B5EF4-FFF2-40B4-BE49-F238E27FC236}">
                <a16:creationId xmlns:a16="http://schemas.microsoft.com/office/drawing/2014/main" id="{451A2935-4983-2B4E-A96E-256497856F65}"/>
              </a:ext>
            </a:extLst>
          </p:cNvPr>
          <p:cNvSpPr>
            <a:spLocks noGrp="1"/>
          </p:cNvSpPr>
          <p:nvPr>
            <p:ph type="sldNum" sz="quarter" idx="12"/>
          </p:nvPr>
        </p:nvSpPr>
        <p:spPr/>
        <p:txBody>
          <a:bodyPr/>
          <a:lstStyle/>
          <a:p>
            <a:fld id="{228B9B32-4C81-AF47-9361-0A571CCDDFED}" type="slidenum">
              <a:rPr lang="de-DE" smtClean="0"/>
              <a:pPr/>
              <a:t>10</a:t>
            </a:fld>
            <a:endParaRPr lang="de-DE"/>
          </a:p>
        </p:txBody>
      </p:sp>
      <p:pic>
        <p:nvPicPr>
          <p:cNvPr id="9" name="Graphic 8">
            <a:extLst>
              <a:ext uri="{FF2B5EF4-FFF2-40B4-BE49-F238E27FC236}">
                <a16:creationId xmlns:a16="http://schemas.microsoft.com/office/drawing/2014/main" id="{77E579E6-1459-E64A-BC0C-02E46980D3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42848" y="5876925"/>
            <a:ext cx="876300" cy="838200"/>
          </a:xfrm>
          <a:prstGeom prst="rect">
            <a:avLst/>
          </a:prstGeom>
        </p:spPr>
      </p:pic>
    </p:spTree>
    <p:extLst>
      <p:ext uri="{BB962C8B-B14F-4D97-AF65-F5344CB8AC3E}">
        <p14:creationId xmlns:p14="http://schemas.microsoft.com/office/powerpoint/2010/main" val="10860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134750-39B4-124C-AA3E-871546A4E528}"/>
              </a:ext>
            </a:extLst>
          </p:cNvPr>
          <p:cNvSpPr>
            <a:spLocks noGrp="1"/>
          </p:cNvSpPr>
          <p:nvPr>
            <p:ph idx="1"/>
          </p:nvPr>
        </p:nvSpPr>
        <p:spPr>
          <a:xfrm>
            <a:off x="572050" y="1268760"/>
            <a:ext cx="10961137" cy="4752527"/>
          </a:xfrm>
        </p:spPr>
        <p:txBody>
          <a:bodyPr>
            <a:normAutofit fontScale="62500" lnSpcReduction="20000"/>
          </a:bodyPr>
          <a:lstStyle/>
          <a:p>
            <a:pPr marL="0" indent="0">
              <a:lnSpc>
                <a:spcPct val="160000"/>
              </a:lnSpc>
              <a:buNone/>
            </a:pPr>
            <a:r>
              <a:rPr lang="de-DE" sz="2000" dirty="0"/>
              <a:t>Wir lieben </a:t>
            </a:r>
            <a:r>
              <a:rPr lang="de-DE" sz="2000" b="1" dirty="0"/>
              <a:t>Transparenz</a:t>
            </a:r>
            <a:r>
              <a:rPr lang="de-DE" sz="2000" dirty="0"/>
              <a:t>. Wir lieben </a:t>
            </a:r>
            <a:r>
              <a:rPr lang="de-DE" sz="2000" b="1" dirty="0"/>
              <a:t>Einfachheit</a:t>
            </a:r>
            <a:r>
              <a:rPr lang="de-DE" sz="2000" dirty="0"/>
              <a:t>. Wir lieben </a:t>
            </a:r>
            <a:r>
              <a:rPr lang="de-DE" sz="2000" b="1" dirty="0"/>
              <a:t>Automatisierung</a:t>
            </a:r>
            <a:r>
              <a:rPr lang="de-DE" sz="2000" dirty="0"/>
              <a:t>.</a:t>
            </a:r>
            <a:br>
              <a:rPr lang="de-DE" sz="2000" dirty="0"/>
            </a:br>
            <a:r>
              <a:rPr lang="de-DE" sz="2000" dirty="0"/>
              <a:t>Sobald wir dieselbe Aufgabe zum zweiten Mal erledigen, denken wir über einen automatisierten Prozess nach. Kann der Prozess dann noch messbar oder mit historischen Daten vergleichbar gemacht werden, damit wir in der Zukunft schneller zum gewünschten Ergebnis kommen, machen wir uns mit leuchtenden Augen an die Arbeit.</a:t>
            </a:r>
            <a:br>
              <a:rPr lang="de-DE" sz="2000" dirty="0"/>
            </a:br>
            <a:r>
              <a:rPr lang="de-DE" sz="2000" dirty="0"/>
              <a:t>Ob wir dabei auf KI, ein kurzes Skript, eine simple Analyse oder ein Dashboard setzen, entscheiden wir je nach Fragestellung. </a:t>
            </a:r>
            <a:r>
              <a:rPr lang="de-DE" sz="2000" b="1" dirty="0"/>
              <a:t>Qualitativer Daten-Pragmatismus ist unser Dogma</a:t>
            </a:r>
            <a:r>
              <a:rPr lang="de-DE" sz="2000" dirty="0"/>
              <a:t>. </a:t>
            </a:r>
            <a:br>
              <a:rPr lang="de-DE" sz="2000" dirty="0"/>
            </a:br>
            <a:br>
              <a:rPr lang="de-DE" sz="2000" dirty="0"/>
            </a:br>
            <a:r>
              <a:rPr lang="de-DE" sz="2000" b="1" dirty="0">
                <a:solidFill>
                  <a:srgbClr val="FF325D"/>
                </a:solidFill>
              </a:rPr>
              <a:t>ROGUE ROBOTS</a:t>
            </a:r>
            <a:r>
              <a:rPr lang="de-DE" sz="2000" dirty="0"/>
              <a:t> sind zwei Tech-Realisten mit einer </a:t>
            </a:r>
            <a:r>
              <a:rPr lang="de-DE" sz="2000" b="1" dirty="0"/>
              <a:t>Leidenschaft für nutzer-orientierte Lösungen und messbarer Geschäftstransformation durch Technologie</a:t>
            </a:r>
            <a:r>
              <a:rPr lang="de-DE" sz="2000" dirty="0"/>
              <a:t>. Wir sind davon überzeugt, dass alle Ideen zur Digitalen Transformation bereits erzählt wurden. Die Frage nach dem "</a:t>
            </a:r>
            <a:r>
              <a:rPr lang="de-DE" sz="2000" dirty="0" err="1"/>
              <a:t>What's</a:t>
            </a:r>
            <a:r>
              <a:rPr lang="de-DE" sz="2000" dirty="0"/>
              <a:t> in </a:t>
            </a:r>
            <a:r>
              <a:rPr lang="de-DE" sz="2000" dirty="0" err="1"/>
              <a:t>it</a:t>
            </a:r>
            <a:r>
              <a:rPr lang="de-DE" sz="2000" dirty="0"/>
              <a:t> </a:t>
            </a:r>
            <a:r>
              <a:rPr lang="de-DE" sz="2000" dirty="0" err="1"/>
              <a:t>for</a:t>
            </a:r>
            <a:r>
              <a:rPr lang="de-DE" sz="2000" dirty="0"/>
              <a:t> </a:t>
            </a:r>
            <a:r>
              <a:rPr lang="de-DE" sz="2000" dirty="0" err="1"/>
              <a:t>me</a:t>
            </a:r>
            <a:r>
              <a:rPr lang="de-DE" sz="2000" dirty="0"/>
              <a:t>?" der betroffenen Nutzer kam dabei aber regelmäßig zu kurz. Deshalb verlassen wir eingeschlagene Pfade und bringen unsere Erfahrungen zu unseren </a:t>
            </a:r>
            <a:r>
              <a:rPr lang="de-DE" sz="2000" dirty="0" err="1"/>
              <a:t>Kund:innen</a:t>
            </a:r>
            <a:r>
              <a:rPr lang="de-DE" sz="2000" dirty="0"/>
              <a:t>. Immer im Dialog. Immer auf die </a:t>
            </a:r>
            <a:r>
              <a:rPr lang="de-DE" sz="2000" dirty="0" err="1"/>
              <a:t>Kund:innen-Bedürfnisse</a:t>
            </a:r>
            <a:r>
              <a:rPr lang="de-DE" sz="2000" dirty="0"/>
              <a:t> angepasst. Technologie ist nur ein Werkzeug, um Ihre  Geschäfts-Herausforderungen systematisch besser zu meistern. </a:t>
            </a:r>
          </a:p>
          <a:p>
            <a:pPr marL="0" indent="0">
              <a:lnSpc>
                <a:spcPct val="160000"/>
              </a:lnSpc>
              <a:buNone/>
            </a:pPr>
            <a:r>
              <a:rPr lang="de-DE" sz="2000" dirty="0"/>
              <a:t>Unsere Erfahrung reicht von Wissenschaft über Software-Entwicklung bis hin zu Pharma- und Großkonzernexpertise. Wandel und zielgruppenorientierten Kommunikation begleiten uns bereits während unserer gemeinsamen Laufbahn. Wir kombinieren </a:t>
            </a:r>
            <a:r>
              <a:rPr lang="de-DE" sz="2000" dirty="0" err="1"/>
              <a:t>Product</a:t>
            </a:r>
            <a:r>
              <a:rPr lang="de-DE" sz="2000" dirty="0"/>
              <a:t> Ownership mit Software Exzellenz und können sowohl Standard-Tools mit breitem Anwendungsbereich als auch spezifische Kundenlösungen inhaltlich und technisch realisieren.</a:t>
            </a:r>
          </a:p>
        </p:txBody>
      </p:sp>
      <p:sp>
        <p:nvSpPr>
          <p:cNvPr id="3" name="Title 2">
            <a:extLst>
              <a:ext uri="{FF2B5EF4-FFF2-40B4-BE49-F238E27FC236}">
                <a16:creationId xmlns:a16="http://schemas.microsoft.com/office/drawing/2014/main" id="{911EDE51-40B2-5E4E-BBEA-2724200D2D37}"/>
              </a:ext>
            </a:extLst>
          </p:cNvPr>
          <p:cNvSpPr>
            <a:spLocks noGrp="1"/>
          </p:cNvSpPr>
          <p:nvPr>
            <p:ph type="ctrTitle"/>
          </p:nvPr>
        </p:nvSpPr>
        <p:spPr/>
        <p:txBody>
          <a:bodyPr/>
          <a:lstStyle/>
          <a:p>
            <a:r>
              <a:rPr lang="de-DE" dirty="0"/>
              <a:t>ABOUT</a:t>
            </a:r>
          </a:p>
        </p:txBody>
      </p:sp>
      <p:sp>
        <p:nvSpPr>
          <p:cNvPr id="4" name="Subtitle 3">
            <a:extLst>
              <a:ext uri="{FF2B5EF4-FFF2-40B4-BE49-F238E27FC236}">
                <a16:creationId xmlns:a16="http://schemas.microsoft.com/office/drawing/2014/main" id="{589B06F8-7F2D-C743-B729-B0EB5689D344}"/>
              </a:ext>
            </a:extLst>
          </p:cNvPr>
          <p:cNvSpPr>
            <a:spLocks noGrp="1"/>
          </p:cNvSpPr>
          <p:nvPr>
            <p:ph type="subTitle" idx="13"/>
          </p:nvPr>
        </p:nvSpPr>
        <p:spPr/>
        <p:txBody>
          <a:bodyPr/>
          <a:lstStyle/>
          <a:p>
            <a:r>
              <a:rPr lang="de-DE" b="1" dirty="0">
                <a:solidFill>
                  <a:srgbClr val="FF325D"/>
                </a:solidFill>
              </a:rPr>
              <a:t>ROGUE ROBOTS </a:t>
            </a:r>
            <a:r>
              <a:rPr lang="de-DE" dirty="0"/>
              <a:t>– Data </a:t>
            </a:r>
            <a:r>
              <a:rPr lang="de-DE" dirty="0" err="1"/>
              <a:t>Pragmatism</a:t>
            </a:r>
            <a:r>
              <a:rPr lang="de-DE" dirty="0"/>
              <a:t> </a:t>
            </a:r>
            <a:r>
              <a:rPr lang="de-DE" dirty="0" err="1"/>
              <a:t>for</a:t>
            </a:r>
            <a:r>
              <a:rPr lang="de-DE" dirty="0"/>
              <a:t> </a:t>
            </a:r>
            <a:r>
              <a:rPr lang="de-DE" dirty="0" err="1"/>
              <a:t>Pharma</a:t>
            </a:r>
            <a:endParaRPr lang="de-DE" dirty="0"/>
          </a:p>
        </p:txBody>
      </p:sp>
      <p:sp>
        <p:nvSpPr>
          <p:cNvPr id="5" name="Date Placeholder 4">
            <a:extLst>
              <a:ext uri="{FF2B5EF4-FFF2-40B4-BE49-F238E27FC236}">
                <a16:creationId xmlns:a16="http://schemas.microsoft.com/office/drawing/2014/main" id="{82D50B45-4D78-674F-8777-60771A480D64}"/>
              </a:ext>
            </a:extLst>
          </p:cNvPr>
          <p:cNvSpPr>
            <a:spLocks noGrp="1"/>
          </p:cNvSpPr>
          <p:nvPr>
            <p:ph type="dt" sz="half" idx="10"/>
          </p:nvPr>
        </p:nvSpPr>
        <p:spPr/>
        <p:txBody>
          <a:bodyPr/>
          <a:lstStyle/>
          <a:p>
            <a:fld id="{CA409D01-E3E8-AD40-87EE-AB0D1D4B99A2}" type="datetime4">
              <a:rPr lang="de-DE" smtClean="0"/>
              <a:pPr/>
              <a:t>3. Februar 2026</a:t>
            </a:fld>
            <a:endParaRPr lang="de-DE"/>
          </a:p>
        </p:txBody>
      </p:sp>
      <p:sp>
        <p:nvSpPr>
          <p:cNvPr id="6" name="Footer Placeholder 5">
            <a:extLst>
              <a:ext uri="{FF2B5EF4-FFF2-40B4-BE49-F238E27FC236}">
                <a16:creationId xmlns:a16="http://schemas.microsoft.com/office/drawing/2014/main" id="{4922E577-49F4-C144-87FF-5366D1711F31}"/>
              </a:ext>
            </a:extLst>
          </p:cNvPr>
          <p:cNvSpPr>
            <a:spLocks noGrp="1"/>
          </p:cNvSpPr>
          <p:nvPr>
            <p:ph type="ftr" sz="quarter" idx="11"/>
          </p:nvPr>
        </p:nvSpPr>
        <p:spPr/>
        <p:txBody>
          <a:bodyPr/>
          <a:lstStyle/>
          <a:p>
            <a:r>
              <a:rPr lang="de-DE"/>
              <a:t>Krankenhäuser &amp; Rehakliniken als Startpunkte der Patient:innenreise mit APONTIS Iltria</a:t>
            </a:r>
          </a:p>
        </p:txBody>
      </p:sp>
      <p:sp>
        <p:nvSpPr>
          <p:cNvPr id="7" name="Slide Number Placeholder 6">
            <a:extLst>
              <a:ext uri="{FF2B5EF4-FFF2-40B4-BE49-F238E27FC236}">
                <a16:creationId xmlns:a16="http://schemas.microsoft.com/office/drawing/2014/main" id="{6B6B8F82-08E8-9947-AFC1-B74DE70CDC49}"/>
              </a:ext>
            </a:extLst>
          </p:cNvPr>
          <p:cNvSpPr>
            <a:spLocks noGrp="1"/>
          </p:cNvSpPr>
          <p:nvPr>
            <p:ph type="sldNum" sz="quarter" idx="12"/>
          </p:nvPr>
        </p:nvSpPr>
        <p:spPr/>
        <p:txBody>
          <a:bodyPr/>
          <a:lstStyle/>
          <a:p>
            <a:fld id="{228B9B32-4C81-AF47-9361-0A571CCDDFED}" type="slidenum">
              <a:rPr lang="de-DE" smtClean="0"/>
              <a:pPr/>
              <a:t>11</a:t>
            </a:fld>
            <a:endParaRPr lang="de-DE"/>
          </a:p>
        </p:txBody>
      </p:sp>
    </p:spTree>
    <p:extLst>
      <p:ext uri="{BB962C8B-B14F-4D97-AF65-F5344CB8AC3E}">
        <p14:creationId xmlns:p14="http://schemas.microsoft.com/office/powerpoint/2010/main" val="3514427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8DAA9F-369F-7E47-8A13-62F252C44E35}"/>
              </a:ext>
            </a:extLst>
          </p:cNvPr>
          <p:cNvSpPr>
            <a:spLocks noGrp="1"/>
          </p:cNvSpPr>
          <p:nvPr>
            <p:ph type="dt" sz="half" idx="4294967295"/>
          </p:nvPr>
        </p:nvSpPr>
        <p:spPr>
          <a:xfrm>
            <a:off x="1141989" y="6356349"/>
            <a:ext cx="1382485" cy="365125"/>
          </a:xfrm>
        </p:spPr>
        <p:txBody>
          <a:bodyPr/>
          <a:lstStyle/>
          <a:p>
            <a:fld id="{9670321F-B2B6-044A-9D6C-BAA46186902C}" type="datetime4">
              <a:rPr lang="de-DE" smtClean="0"/>
              <a:t>3. Februar 2026</a:t>
            </a:fld>
            <a:endParaRPr lang="de-DE"/>
          </a:p>
        </p:txBody>
      </p:sp>
      <p:sp>
        <p:nvSpPr>
          <p:cNvPr id="3" name="Footer Placeholder 2">
            <a:extLst>
              <a:ext uri="{FF2B5EF4-FFF2-40B4-BE49-F238E27FC236}">
                <a16:creationId xmlns:a16="http://schemas.microsoft.com/office/drawing/2014/main" id="{C4D92B37-B898-7E4E-B48A-EAF2FAD9889B}"/>
              </a:ext>
            </a:extLst>
          </p:cNvPr>
          <p:cNvSpPr>
            <a:spLocks noGrp="1"/>
          </p:cNvSpPr>
          <p:nvPr>
            <p:ph type="ftr" sz="quarter" idx="4294967295"/>
          </p:nvPr>
        </p:nvSpPr>
        <p:spPr>
          <a:xfrm>
            <a:off x="2582862" y="6359399"/>
            <a:ext cx="4114800" cy="365125"/>
          </a:xfrm>
        </p:spPr>
        <p:txBody>
          <a:bodyPr/>
          <a:lstStyle/>
          <a:p>
            <a:r>
              <a:rPr lang="de-DE"/>
              <a:t>Krankenhäuser &amp; Rehakliniken als Startpunkte der Patient:innenreise mit APONTIS Iltria</a:t>
            </a:r>
          </a:p>
        </p:txBody>
      </p:sp>
      <p:sp>
        <p:nvSpPr>
          <p:cNvPr id="4" name="Slide Number Placeholder 3">
            <a:extLst>
              <a:ext uri="{FF2B5EF4-FFF2-40B4-BE49-F238E27FC236}">
                <a16:creationId xmlns:a16="http://schemas.microsoft.com/office/drawing/2014/main" id="{78D862B8-0B31-184E-9DCF-ABA6F2B48BFF}"/>
              </a:ext>
            </a:extLst>
          </p:cNvPr>
          <p:cNvSpPr>
            <a:spLocks noGrp="1"/>
          </p:cNvSpPr>
          <p:nvPr>
            <p:ph type="sldNum" sz="quarter" idx="4294967295"/>
          </p:nvPr>
        </p:nvSpPr>
        <p:spPr>
          <a:xfrm>
            <a:off x="577910" y="6356350"/>
            <a:ext cx="505691" cy="365125"/>
          </a:xfrm>
        </p:spPr>
        <p:txBody>
          <a:bodyPr/>
          <a:lstStyle/>
          <a:p>
            <a:fld id="{228B9B32-4C81-AF47-9361-0A571CCDDFED}" type="slidenum">
              <a:rPr lang="de-DE" smtClean="0"/>
              <a:pPr/>
              <a:t>12</a:t>
            </a:fld>
            <a:endParaRPr lang="de-DE"/>
          </a:p>
        </p:txBody>
      </p:sp>
    </p:spTree>
    <p:extLst>
      <p:ext uri="{BB962C8B-B14F-4D97-AF65-F5344CB8AC3E}">
        <p14:creationId xmlns:p14="http://schemas.microsoft.com/office/powerpoint/2010/main" val="3124099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Words>
  <Application>Microsoft Macintosh PowerPoint</Application>
  <PresentationFormat>Breitbild</PresentationFormat>
  <Paragraphs>107</Paragraphs>
  <Slides>11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Arial</vt:lpstr>
      <vt:lpstr>Calibri</vt:lpstr>
      <vt:lpstr>Lato Light</vt:lpstr>
      <vt:lpstr>Montserrat</vt:lpstr>
      <vt:lpstr>Reddit Sans</vt:lpstr>
      <vt:lpstr>Office Theme</vt:lpstr>
      <vt:lpstr>Krankenhäuser &amp; Rehakliniken als Startpunkte der Patient:innenreise mit APONTIS Iltria</vt:lpstr>
      <vt:lpstr>EXECUTIVE SUMMARY</vt:lpstr>
      <vt:lpstr>ZIELSETZUNG DER ANALYSE</vt:lpstr>
      <vt:lpstr>1_ IDENTIFIZIERUNG ANHAND VON FACHABTEILUNGSBESCHREIBUNGEN</vt:lpstr>
      <vt:lpstr>1_ IDENTIFIZIERUNG ANHAND VON FACHABTEILUNGSBESCHREIBUNGEN</vt:lpstr>
      <vt:lpstr>1_ IDENTIFIZIERUNG ANHAND VON FACHABTEILUNGSBESCHREIBUNGEN</vt:lpstr>
      <vt:lpstr>1_ IDENTIFIZIERUNG ANHAND VON FACHABTEILUNGSBESCHREIBUNGEN</vt:lpstr>
      <vt:lpstr>1_ IDENTIFIZIERUNG ANHAND VON FACHABTEILUNGSBESCHREIBUNGEN</vt:lpstr>
      <vt:lpstr>1_ IDENTIFIZIERUNG ANHAND VON FACHABTEILUNGSBESCHREIBUNGEN</vt:lpstr>
      <vt:lpstr>ABOUT</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Office-Benutzer</dc:creator>
  <cp:lastModifiedBy>Tobias Setzer</cp:lastModifiedBy>
  <cp:revision>63</cp:revision>
  <cp:lastPrinted>2022-12-11T12:05:40Z</cp:lastPrinted>
  <dcterms:created xsi:type="dcterms:W3CDTF">2022-12-11T09:06:47Z</dcterms:created>
  <dcterms:modified xsi:type="dcterms:W3CDTF">2026-02-03T08:00:25Z</dcterms:modified>
</cp:coreProperties>
</file>